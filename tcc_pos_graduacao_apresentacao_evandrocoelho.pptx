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9"/>
  </p:notesMasterIdLst>
  <p:handoutMasterIdLst>
    <p:handoutMasterId r:id="rId30"/>
  </p:handoutMasterIdLst>
  <p:sldIdLst>
    <p:sldId id="265" r:id="rId2"/>
    <p:sldId id="259" r:id="rId3"/>
    <p:sldId id="261" r:id="rId4"/>
    <p:sldId id="290" r:id="rId5"/>
    <p:sldId id="262" r:id="rId6"/>
    <p:sldId id="288" r:id="rId7"/>
    <p:sldId id="284" r:id="rId8"/>
    <p:sldId id="285" r:id="rId9"/>
    <p:sldId id="286" r:id="rId10"/>
    <p:sldId id="267" r:id="rId11"/>
    <p:sldId id="258" r:id="rId12"/>
    <p:sldId id="266" r:id="rId13"/>
    <p:sldId id="274" r:id="rId14"/>
    <p:sldId id="275" r:id="rId15"/>
    <p:sldId id="272" r:id="rId16"/>
    <p:sldId id="289" r:id="rId17"/>
    <p:sldId id="273" r:id="rId18"/>
    <p:sldId id="268" r:id="rId19"/>
    <p:sldId id="281" r:id="rId20"/>
    <p:sldId id="277" r:id="rId21"/>
    <p:sldId id="291" r:id="rId22"/>
    <p:sldId id="269" r:id="rId23"/>
    <p:sldId id="278" r:id="rId24"/>
    <p:sldId id="280" r:id="rId25"/>
    <p:sldId id="270" r:id="rId26"/>
    <p:sldId id="287" r:id="rId27"/>
    <p:sldId id="271" r:id="rId28"/>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 Almeida" initials="CA" lastIdx="2" clrIdx="0">
    <p:extLst>
      <p:ext uri="{19B8F6BF-5375-455C-9EA6-DF929625EA0E}">
        <p15:presenceInfo xmlns:p15="http://schemas.microsoft.com/office/powerpoint/2012/main" userId="68b6264d8dcde25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58" autoAdjust="0"/>
    <p:restoredTop sz="94660"/>
  </p:normalViewPr>
  <p:slideViewPr>
    <p:cSldViewPr snapToGrid="0">
      <p:cViewPr varScale="1">
        <p:scale>
          <a:sx n="111" d="100"/>
          <a:sy n="111" d="100"/>
        </p:scale>
        <p:origin x="344" y="208"/>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8DB5D7D5-6A1C-4ABC-8850-759A9D876047}">
      <dgm:prSet/>
      <dgm:spPr/>
      <dgm:t>
        <a:bodyPr rtlCol="0"/>
        <a:lstStyle/>
        <a:p>
          <a:pPr rtl="0"/>
          <a:r>
            <a:rPr lang="pt-br" dirty="0"/>
            <a:t>1ª etapa</a:t>
          </a:r>
        </a:p>
      </dgm:t>
    </dgm:pt>
    <dgm:pt modelId="{D8874F40-D7B0-41DE-BB6F-A6014FEAB2D7}" type="parTrans" cxnId="{C5202EE1-10E9-4076-9D55-9E0CF8B152AF}">
      <dgm:prSet/>
      <dgm:spPr/>
      <dgm:t>
        <a:bodyPr rtlCol="0"/>
        <a:lstStyle/>
        <a:p>
          <a:pPr rtl="0"/>
          <a:endParaRPr lang="en-US"/>
        </a:p>
      </dgm:t>
    </dgm:pt>
    <dgm:pt modelId="{BD6E0A2E-99C8-4F5A-971A-CD211D1099FF}" type="sibTrans" cxnId="{C5202EE1-10E9-4076-9D55-9E0CF8B152AF}">
      <dgm:prSet/>
      <dgm:spPr/>
      <dgm:t>
        <a:bodyPr rtlCol="0"/>
        <a:lstStyle/>
        <a:p>
          <a:pPr rtl="0"/>
          <a:endParaRPr lang="en-US"/>
        </a:p>
      </dgm:t>
    </dgm:pt>
    <dgm:pt modelId="{96262926-A67D-4E4E-9515-5EBC67F0B634}">
      <dgm:prSet custT="1"/>
      <dgm:spPr/>
      <dgm:t>
        <a:bodyPr rtlCol="0"/>
        <a:lstStyle/>
        <a:p>
          <a:pPr rtl="0"/>
          <a:r>
            <a:rPr lang="pt-br" sz="1800" dirty="0"/>
            <a:t>Pré-processamento</a:t>
          </a:r>
        </a:p>
      </dgm:t>
    </dgm:pt>
    <dgm:pt modelId="{EC74E552-C501-4B0E-9400-E8B410F53D50}" type="parTrans" cxnId="{8C5B110A-FBC3-4CBF-BED2-413E87D4DAD5}">
      <dgm:prSet/>
      <dgm:spPr/>
      <dgm:t>
        <a:bodyPr rtlCol="0"/>
        <a:lstStyle/>
        <a:p>
          <a:pPr rtl="0"/>
          <a:endParaRPr lang="en-US"/>
        </a:p>
      </dgm:t>
    </dgm:pt>
    <dgm:pt modelId="{1DA7ACEB-F642-43C1-BCB5-F580B9B985B9}" type="sibTrans" cxnId="{8C5B110A-FBC3-4CBF-BED2-413E87D4DAD5}">
      <dgm:prSet/>
      <dgm:spPr/>
      <dgm:t>
        <a:bodyPr rtlCol="0"/>
        <a:lstStyle/>
        <a:p>
          <a:pPr rtl="0"/>
          <a:endParaRPr lang="en-US"/>
        </a:p>
      </dgm:t>
    </dgm:pt>
    <dgm:pt modelId="{C5146535-FD3D-4589-98A3-623B8DA4B8DB}">
      <dgm:prSet/>
      <dgm:spPr/>
      <dgm:t>
        <a:bodyPr rtlCol="0"/>
        <a:lstStyle/>
        <a:p>
          <a:pPr rtl="0"/>
          <a:r>
            <a:rPr lang="pt-br" dirty="0"/>
            <a:t>2ª etapa</a:t>
          </a:r>
        </a:p>
      </dgm:t>
    </dgm:pt>
    <dgm:pt modelId="{20848F78-EC70-4162-96CE-CC68006930F0}" type="parTrans" cxnId="{8EBF857E-7408-4941-91E4-293B0F59EEF7}">
      <dgm:prSet/>
      <dgm:spPr/>
      <dgm:t>
        <a:bodyPr rtlCol="0"/>
        <a:lstStyle/>
        <a:p>
          <a:pPr rtl="0"/>
          <a:endParaRPr lang="en-US"/>
        </a:p>
      </dgm:t>
    </dgm:pt>
    <dgm:pt modelId="{7A3CCAF8-AC3A-401E-AEDD-44BBC1AA9C31}" type="sibTrans" cxnId="{8EBF857E-7408-4941-91E4-293B0F59EEF7}">
      <dgm:prSet/>
      <dgm:spPr/>
      <dgm:t>
        <a:bodyPr rtlCol="0"/>
        <a:lstStyle/>
        <a:p>
          <a:pPr rtl="0"/>
          <a:endParaRPr lang="en-US"/>
        </a:p>
      </dgm:t>
    </dgm:pt>
    <dgm:pt modelId="{E80CA270-6C90-4E17-ACEA-46B56AD54DD1}">
      <dgm:prSet custT="1"/>
      <dgm:spPr/>
      <dgm:t>
        <a:bodyPr rtlCol="0"/>
        <a:lstStyle/>
        <a:p>
          <a:pPr rtl="0"/>
          <a:r>
            <a:rPr lang="pt-br" sz="1800" dirty="0"/>
            <a:t>Treino (Validação Cruzada)</a:t>
          </a:r>
        </a:p>
      </dgm:t>
    </dgm:pt>
    <dgm:pt modelId="{7EEC8067-96EF-4BE0-8BE3-BA59ED78A31F}" type="parTrans" cxnId="{2DC28DF8-5C1B-4F53-A4C1-D5B63FB54BAF}">
      <dgm:prSet/>
      <dgm:spPr/>
      <dgm:t>
        <a:bodyPr rtlCol="0"/>
        <a:lstStyle/>
        <a:p>
          <a:pPr rtl="0"/>
          <a:endParaRPr lang="en-US"/>
        </a:p>
      </dgm:t>
    </dgm:pt>
    <dgm:pt modelId="{1AFE46E5-6B07-4894-8ECB-21BD7E7B8AF1}" type="sibTrans" cxnId="{2DC28DF8-5C1B-4F53-A4C1-D5B63FB54BAF}">
      <dgm:prSet/>
      <dgm:spPr/>
      <dgm:t>
        <a:bodyPr rtlCol="0"/>
        <a:lstStyle/>
        <a:p>
          <a:pPr rtl="0"/>
          <a:endParaRPr lang="en-US"/>
        </a:p>
      </dgm:t>
    </dgm:pt>
    <dgm:pt modelId="{09C152DA-7620-4852-8162-A77EC3609F3F}">
      <dgm:prSet/>
      <dgm:spPr/>
      <dgm:t>
        <a:bodyPr rtlCol="0"/>
        <a:lstStyle/>
        <a:p>
          <a:pPr rtl="0"/>
          <a:r>
            <a:rPr lang="pt-br" dirty="0"/>
            <a:t>3ª etapa</a:t>
          </a:r>
        </a:p>
      </dgm:t>
    </dgm:pt>
    <dgm:pt modelId="{9F6D14C0-6C82-4CBD-8D6D-B0E117B6F2ED}" type="parTrans" cxnId="{23ECAC8B-17A4-4883-AA0E-06D66B7E788A}">
      <dgm:prSet/>
      <dgm:spPr/>
      <dgm:t>
        <a:bodyPr rtlCol="0"/>
        <a:lstStyle/>
        <a:p>
          <a:pPr rtl="0"/>
          <a:endParaRPr lang="en-US"/>
        </a:p>
      </dgm:t>
    </dgm:pt>
    <dgm:pt modelId="{0AE8D36D-0F0F-4206-AE39-0A2D73987B68}" type="sibTrans" cxnId="{23ECAC8B-17A4-4883-AA0E-06D66B7E788A}">
      <dgm:prSet/>
      <dgm:spPr/>
      <dgm:t>
        <a:bodyPr rtlCol="0"/>
        <a:lstStyle/>
        <a:p>
          <a:pPr rtl="0"/>
          <a:endParaRPr lang="en-US"/>
        </a:p>
      </dgm:t>
    </dgm:pt>
    <dgm:pt modelId="{6C8937BE-93F8-4DED-8538-1C601DAEBA66}">
      <dgm:prSet custT="1"/>
      <dgm:spPr/>
      <dgm:t>
        <a:bodyPr rtlCol="0"/>
        <a:lstStyle/>
        <a:p>
          <a:pPr rtl="0"/>
          <a:r>
            <a:rPr lang="pt-br" sz="1800" dirty="0"/>
            <a:t>Testes (Base desconhecida)</a:t>
          </a:r>
        </a:p>
      </dgm:t>
    </dgm:pt>
    <dgm:pt modelId="{77D169C6-D77F-456D-B18B-D7BE016AD87A}" type="parTrans" cxnId="{FAA8D3DD-12E8-457D-9144-B037C5678347}">
      <dgm:prSet/>
      <dgm:spPr/>
      <dgm:t>
        <a:bodyPr rtlCol="0"/>
        <a:lstStyle/>
        <a:p>
          <a:pPr rtl="0"/>
          <a:endParaRPr lang="en-US"/>
        </a:p>
      </dgm:t>
    </dgm:pt>
    <dgm:pt modelId="{A97BE953-FA9D-4BA6-A92C-494DB1F3BA59}" type="sibTrans" cxnId="{FAA8D3DD-12E8-457D-9144-B037C5678347}">
      <dgm:prSet/>
      <dgm:spPr/>
      <dgm:t>
        <a:bodyPr rtlCol="0"/>
        <a:lstStyle/>
        <a:p>
          <a:pPr rtl="0"/>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custScaleX="162665" custLinFactNeighborX="28583" custLinFactNeighborY="-292">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custLinFactNeighborX="16227">
        <dgm:presLayoutVars>
          <dgm:bulletEnabled val="1"/>
        </dgm:presLayoutVars>
      </dgm:prSet>
      <dgm:spPr/>
    </dgm:pt>
    <dgm:pt modelId="{122B38A3-0442-4747-820C-1F37877E2B0E}" type="pres">
      <dgm:prSet presAssocID="{8DB5D7D5-6A1C-4ABC-8850-759A9D876047}" presName="ConnectLine1" presStyleLbl="sibTrans1D1" presStyleIdx="0" presStyleCnt="3" custLinFactX="1100000" custLinFactNeighborX="1157778"/>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custLinFactX="500000" custLinFactNeighborX="569976"/>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custScaleX="59623" custLinFactNeighborX="40263" custLinFactNeighborY="-292">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custLinFactNeighborX="25079">
        <dgm:presLayoutVars>
          <dgm:bulletEnabled val="1"/>
        </dgm:presLayoutVars>
      </dgm:prSet>
      <dgm:spPr/>
    </dgm:pt>
    <dgm:pt modelId="{DBA410EB-5F61-4F46-92D9-C5B0AA59EE15}" type="pres">
      <dgm:prSet presAssocID="{C5146535-FD3D-4589-98A3-623B8DA4B8DB}" presName="ConnectLine1" presStyleLbl="sibTrans1D1" presStyleIdx="1" presStyleCnt="3" custLinFactX="1600000" custLinFactNeighborX="1684042"/>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custLinFactX="742021" custLinFactNeighborX="800000" custLinFactNeighborY="-25418"/>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custScaleX="39567" custLinFactNeighborX="-9523" custLinFactNeighborY="-292">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custLinFactNeighborX="-4818">
        <dgm:presLayoutVars>
          <dgm:bulletEnabled val="1"/>
        </dgm:presLayoutVars>
      </dgm:prSet>
      <dgm:spPr/>
    </dgm:pt>
    <dgm:pt modelId="{440E9361-37D2-4157-AF38-7B49AD23708B}" type="pres">
      <dgm:prSet presAssocID="{09C152DA-7620-4852-8162-A77EC3609F3F}" presName="ConnectLine1" presStyleLbl="sibTrans1D1" presStyleIdx="2" presStyleCnt="3" custLinFactX="-369697" custLinFactNeighborX="-400000"/>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custLinFactX="-157061" custLinFactNeighborX="-200000"/>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20A097-E2AB-414D-BD88-C5C3D3B07957}"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pt-BR"/>
        </a:p>
      </dgm:t>
    </dgm:pt>
    <dgm:pt modelId="{8D8BEF12-40D9-48B3-AA4C-9F062F3802C6}">
      <dgm:prSet phldrT="[Texto]" custT="1"/>
      <dgm:spPr/>
      <dgm:t>
        <a:bodyPr/>
        <a:lstStyle/>
        <a:p>
          <a:r>
            <a:rPr lang="pt-BR" sz="2400" i="1" dirty="0" err="1"/>
            <a:t>GridSearchCV</a:t>
          </a:r>
          <a:endParaRPr lang="pt-BR" sz="2400" i="1" dirty="0"/>
        </a:p>
      </dgm:t>
    </dgm:pt>
    <dgm:pt modelId="{4EDE5B85-6D19-43D4-BFC8-7D8E3B2B2001}" type="parTrans" cxnId="{EABF66A1-9FBB-471A-846F-3795156F857C}">
      <dgm:prSet/>
      <dgm:spPr/>
      <dgm:t>
        <a:bodyPr/>
        <a:lstStyle/>
        <a:p>
          <a:endParaRPr lang="pt-BR"/>
        </a:p>
      </dgm:t>
    </dgm:pt>
    <dgm:pt modelId="{52DFE2D4-D758-4627-BB64-1F289A3BA6E4}" type="sibTrans" cxnId="{EABF66A1-9FBB-471A-846F-3795156F857C}">
      <dgm:prSet/>
      <dgm:spPr/>
      <dgm:t>
        <a:bodyPr/>
        <a:lstStyle/>
        <a:p>
          <a:endParaRPr lang="pt-BR"/>
        </a:p>
      </dgm:t>
    </dgm:pt>
    <dgm:pt modelId="{14A85830-E15F-47C0-8697-E920BC8771A4}">
      <dgm:prSet phldrT="[Texto]" custT="1"/>
      <dgm:spPr/>
      <dgm:t>
        <a:bodyPr/>
        <a:lstStyle/>
        <a:p>
          <a:r>
            <a:rPr lang="pt-BR" sz="2000" dirty="0"/>
            <a:t>Número de Neurônios</a:t>
          </a:r>
        </a:p>
        <a:p>
          <a:r>
            <a:rPr lang="pt-BR" sz="2000" dirty="0"/>
            <a:t>(10, 30, 50)</a:t>
          </a:r>
        </a:p>
      </dgm:t>
    </dgm:pt>
    <dgm:pt modelId="{FB5B66D3-26C0-47F2-B984-5FD9BF72509C}" type="parTrans" cxnId="{DE56DDA4-FCF5-4D73-B8A1-2D800328B7AC}">
      <dgm:prSet/>
      <dgm:spPr/>
      <dgm:t>
        <a:bodyPr/>
        <a:lstStyle/>
        <a:p>
          <a:endParaRPr lang="pt-BR"/>
        </a:p>
      </dgm:t>
    </dgm:pt>
    <dgm:pt modelId="{374381FE-A634-4971-857D-49C25685865E}" type="sibTrans" cxnId="{DE56DDA4-FCF5-4D73-B8A1-2D800328B7AC}">
      <dgm:prSet/>
      <dgm:spPr/>
      <dgm:t>
        <a:bodyPr/>
        <a:lstStyle/>
        <a:p>
          <a:endParaRPr lang="pt-BR"/>
        </a:p>
      </dgm:t>
    </dgm:pt>
    <dgm:pt modelId="{90A68ED7-ACAE-4A89-B111-366BDE9D7B7E}">
      <dgm:prSet phldrT="[Texto]" custT="1"/>
      <dgm:spPr/>
      <dgm:t>
        <a:bodyPr/>
        <a:lstStyle/>
        <a:p>
          <a:r>
            <a:rPr lang="pt-BR" sz="2000" dirty="0"/>
            <a:t>Número de Iterações</a:t>
          </a:r>
        </a:p>
        <a:p>
          <a:r>
            <a:rPr lang="pt-BR" sz="2000" dirty="0"/>
            <a:t>(1500, 3000, 5000)</a:t>
          </a:r>
        </a:p>
      </dgm:t>
    </dgm:pt>
    <dgm:pt modelId="{AA823FB9-741E-41D1-B22D-B0261DC396CE}" type="parTrans" cxnId="{A38AC2ED-7CFF-451E-9CEF-B53C83AF1030}">
      <dgm:prSet/>
      <dgm:spPr/>
      <dgm:t>
        <a:bodyPr/>
        <a:lstStyle/>
        <a:p>
          <a:endParaRPr lang="pt-BR"/>
        </a:p>
      </dgm:t>
    </dgm:pt>
    <dgm:pt modelId="{F7D4D44C-86A4-4534-BB87-603D01B4D981}" type="sibTrans" cxnId="{A38AC2ED-7CFF-451E-9CEF-B53C83AF1030}">
      <dgm:prSet/>
      <dgm:spPr/>
      <dgm:t>
        <a:bodyPr/>
        <a:lstStyle/>
        <a:p>
          <a:endParaRPr lang="pt-BR"/>
        </a:p>
      </dgm:t>
    </dgm:pt>
    <dgm:pt modelId="{8CBF3E1F-AB70-4E16-A604-4EBBF834087B}">
      <dgm:prSet phldrT="[Texto]" custT="1"/>
      <dgm:spPr/>
      <dgm:t>
        <a:bodyPr/>
        <a:lstStyle/>
        <a:p>
          <a:r>
            <a:rPr lang="pt-BR" sz="2000" dirty="0"/>
            <a:t>Recursos de Entrada</a:t>
          </a:r>
        </a:p>
        <a:p>
          <a:r>
            <a:rPr lang="pt-BR" sz="2000" dirty="0"/>
            <a:t>(1, 2, 3, 4, 5, 6, 7)</a:t>
          </a:r>
        </a:p>
      </dgm:t>
    </dgm:pt>
    <dgm:pt modelId="{5DBE4862-172A-4E6C-B3C6-896DACF9A50D}" type="sibTrans" cxnId="{C4BBEC9C-C777-4202-8287-41D290B60A96}">
      <dgm:prSet/>
      <dgm:spPr/>
      <dgm:t>
        <a:bodyPr/>
        <a:lstStyle/>
        <a:p>
          <a:endParaRPr lang="pt-BR"/>
        </a:p>
      </dgm:t>
    </dgm:pt>
    <dgm:pt modelId="{66748A24-98F5-47AC-B37D-67387523D157}" type="parTrans" cxnId="{C4BBEC9C-C777-4202-8287-41D290B60A96}">
      <dgm:prSet/>
      <dgm:spPr/>
      <dgm:t>
        <a:bodyPr/>
        <a:lstStyle/>
        <a:p>
          <a:endParaRPr lang="pt-BR"/>
        </a:p>
      </dgm:t>
    </dgm:pt>
    <dgm:pt modelId="{7A6EB651-02AA-46D4-B32F-A9C87B0AFE86}" type="pres">
      <dgm:prSet presAssocID="{BF20A097-E2AB-414D-BD88-C5C3D3B07957}" presName="hierChild1" presStyleCnt="0">
        <dgm:presLayoutVars>
          <dgm:orgChart val="1"/>
          <dgm:chPref val="1"/>
          <dgm:dir val="rev"/>
          <dgm:animOne val="branch"/>
          <dgm:animLvl val="lvl"/>
          <dgm:resizeHandles/>
        </dgm:presLayoutVars>
      </dgm:prSet>
      <dgm:spPr/>
    </dgm:pt>
    <dgm:pt modelId="{C45E2FBF-04EB-494C-A00D-AF283E7EB15F}" type="pres">
      <dgm:prSet presAssocID="{8D8BEF12-40D9-48B3-AA4C-9F062F3802C6}" presName="hierRoot1" presStyleCnt="0">
        <dgm:presLayoutVars>
          <dgm:hierBranch val="init"/>
        </dgm:presLayoutVars>
      </dgm:prSet>
      <dgm:spPr/>
    </dgm:pt>
    <dgm:pt modelId="{E6200813-BE70-44CB-93C5-3B86EB018549}" type="pres">
      <dgm:prSet presAssocID="{8D8BEF12-40D9-48B3-AA4C-9F062F3802C6}" presName="rootComposite1" presStyleCnt="0"/>
      <dgm:spPr/>
    </dgm:pt>
    <dgm:pt modelId="{A2108E41-2163-4A16-9D9D-69C6A6AEF605}" type="pres">
      <dgm:prSet presAssocID="{8D8BEF12-40D9-48B3-AA4C-9F062F3802C6}" presName="rootText1" presStyleLbl="node0" presStyleIdx="0" presStyleCnt="1">
        <dgm:presLayoutVars>
          <dgm:chPref val="3"/>
        </dgm:presLayoutVars>
      </dgm:prSet>
      <dgm:spPr/>
    </dgm:pt>
    <dgm:pt modelId="{6FA76394-8D91-43BF-8CDF-D8E833BFBA1D}" type="pres">
      <dgm:prSet presAssocID="{8D8BEF12-40D9-48B3-AA4C-9F062F3802C6}" presName="rootConnector1" presStyleLbl="node1" presStyleIdx="0" presStyleCnt="0"/>
      <dgm:spPr/>
    </dgm:pt>
    <dgm:pt modelId="{968B15D6-5ABF-4835-AC76-C8D53582F08F}" type="pres">
      <dgm:prSet presAssocID="{8D8BEF12-40D9-48B3-AA4C-9F062F3802C6}" presName="hierChild2" presStyleCnt="0"/>
      <dgm:spPr/>
    </dgm:pt>
    <dgm:pt modelId="{70D87852-25F4-43B1-8A06-4EA901A53F97}" type="pres">
      <dgm:prSet presAssocID="{66748A24-98F5-47AC-B37D-67387523D157}" presName="Name66" presStyleLbl="parChTrans1D2" presStyleIdx="0" presStyleCnt="3"/>
      <dgm:spPr/>
    </dgm:pt>
    <dgm:pt modelId="{C0AD7D0B-D120-46AA-A114-743556171BEF}" type="pres">
      <dgm:prSet presAssocID="{8CBF3E1F-AB70-4E16-A604-4EBBF834087B}" presName="hierRoot2" presStyleCnt="0">
        <dgm:presLayoutVars>
          <dgm:hierBranch val="init"/>
        </dgm:presLayoutVars>
      </dgm:prSet>
      <dgm:spPr/>
    </dgm:pt>
    <dgm:pt modelId="{246944B1-1CB4-4643-89AD-6287222E2D2A}" type="pres">
      <dgm:prSet presAssocID="{8CBF3E1F-AB70-4E16-A604-4EBBF834087B}" presName="rootComposite" presStyleCnt="0"/>
      <dgm:spPr/>
    </dgm:pt>
    <dgm:pt modelId="{1192D9E5-7A1C-4104-949D-5ADE9BD4128B}" type="pres">
      <dgm:prSet presAssocID="{8CBF3E1F-AB70-4E16-A604-4EBBF834087B}" presName="rootText" presStyleLbl="node2" presStyleIdx="0" presStyleCnt="3" custLinFactNeighborX="-108" custLinFactNeighborY="3311">
        <dgm:presLayoutVars>
          <dgm:chPref val="3"/>
        </dgm:presLayoutVars>
      </dgm:prSet>
      <dgm:spPr/>
    </dgm:pt>
    <dgm:pt modelId="{254443AC-E568-4C6D-88F2-5EE437919671}" type="pres">
      <dgm:prSet presAssocID="{8CBF3E1F-AB70-4E16-A604-4EBBF834087B}" presName="rootConnector" presStyleLbl="node2" presStyleIdx="0" presStyleCnt="3"/>
      <dgm:spPr/>
    </dgm:pt>
    <dgm:pt modelId="{D4929532-5A94-4A4C-8126-F9B9FB1222F6}" type="pres">
      <dgm:prSet presAssocID="{8CBF3E1F-AB70-4E16-A604-4EBBF834087B}" presName="hierChild4" presStyleCnt="0"/>
      <dgm:spPr/>
    </dgm:pt>
    <dgm:pt modelId="{8888B1BC-A283-494B-A43F-CA627C142478}" type="pres">
      <dgm:prSet presAssocID="{8CBF3E1F-AB70-4E16-A604-4EBBF834087B}" presName="hierChild5" presStyleCnt="0"/>
      <dgm:spPr/>
    </dgm:pt>
    <dgm:pt modelId="{C7178A78-76DE-4DE1-B0F2-54CBCE06D362}" type="pres">
      <dgm:prSet presAssocID="{FB5B66D3-26C0-47F2-B984-5FD9BF72509C}" presName="Name66" presStyleLbl="parChTrans1D2" presStyleIdx="1" presStyleCnt="3"/>
      <dgm:spPr/>
    </dgm:pt>
    <dgm:pt modelId="{37692B3B-AB03-421C-8171-E8D0818F90A3}" type="pres">
      <dgm:prSet presAssocID="{14A85830-E15F-47C0-8697-E920BC8771A4}" presName="hierRoot2" presStyleCnt="0">
        <dgm:presLayoutVars>
          <dgm:hierBranch val="init"/>
        </dgm:presLayoutVars>
      </dgm:prSet>
      <dgm:spPr/>
    </dgm:pt>
    <dgm:pt modelId="{7EDF0515-E74F-446D-B588-58EDA63978D5}" type="pres">
      <dgm:prSet presAssocID="{14A85830-E15F-47C0-8697-E920BC8771A4}" presName="rootComposite" presStyleCnt="0"/>
      <dgm:spPr/>
    </dgm:pt>
    <dgm:pt modelId="{B980D154-2AC7-485A-A2E3-7B7BAF8C3790}" type="pres">
      <dgm:prSet presAssocID="{14A85830-E15F-47C0-8697-E920BC8771A4}" presName="rootText" presStyleLbl="node2" presStyleIdx="1" presStyleCnt="3" custLinFactNeighborX="-41960">
        <dgm:presLayoutVars>
          <dgm:chPref val="3"/>
        </dgm:presLayoutVars>
      </dgm:prSet>
      <dgm:spPr/>
    </dgm:pt>
    <dgm:pt modelId="{5CCA962D-D17A-4B78-9D9E-DA0C6A5676D5}" type="pres">
      <dgm:prSet presAssocID="{14A85830-E15F-47C0-8697-E920BC8771A4}" presName="rootConnector" presStyleLbl="node2" presStyleIdx="1" presStyleCnt="3"/>
      <dgm:spPr/>
    </dgm:pt>
    <dgm:pt modelId="{8A225BB1-51B0-46DE-814A-0AA24903C9E5}" type="pres">
      <dgm:prSet presAssocID="{14A85830-E15F-47C0-8697-E920BC8771A4}" presName="hierChild4" presStyleCnt="0"/>
      <dgm:spPr/>
    </dgm:pt>
    <dgm:pt modelId="{FB7D78E5-811F-4216-ABF6-0B87172B82EC}" type="pres">
      <dgm:prSet presAssocID="{14A85830-E15F-47C0-8697-E920BC8771A4}" presName="hierChild5" presStyleCnt="0"/>
      <dgm:spPr/>
    </dgm:pt>
    <dgm:pt modelId="{20AC0B93-E8FF-4B78-A281-91ECCCEA757D}" type="pres">
      <dgm:prSet presAssocID="{AA823FB9-741E-41D1-B22D-B0261DC396CE}" presName="Name66" presStyleLbl="parChTrans1D2" presStyleIdx="2" presStyleCnt="3"/>
      <dgm:spPr/>
    </dgm:pt>
    <dgm:pt modelId="{9EFB5DA6-2D35-43E8-AD48-48A19FAD4C39}" type="pres">
      <dgm:prSet presAssocID="{90A68ED7-ACAE-4A89-B111-366BDE9D7B7E}" presName="hierRoot2" presStyleCnt="0">
        <dgm:presLayoutVars>
          <dgm:hierBranch val="init"/>
        </dgm:presLayoutVars>
      </dgm:prSet>
      <dgm:spPr/>
    </dgm:pt>
    <dgm:pt modelId="{D1A2E2D8-639F-4266-93AD-7E4A1EB1FD63}" type="pres">
      <dgm:prSet presAssocID="{90A68ED7-ACAE-4A89-B111-366BDE9D7B7E}" presName="rootComposite" presStyleCnt="0"/>
      <dgm:spPr/>
    </dgm:pt>
    <dgm:pt modelId="{AAA455E1-A6FB-4D42-800B-286D7FC8999E}" type="pres">
      <dgm:prSet presAssocID="{90A68ED7-ACAE-4A89-B111-366BDE9D7B7E}" presName="rootText" presStyleLbl="node2" presStyleIdx="2" presStyleCnt="3" custLinFactNeighborX="-108" custLinFactNeighborY="-1890">
        <dgm:presLayoutVars>
          <dgm:chPref val="3"/>
        </dgm:presLayoutVars>
      </dgm:prSet>
      <dgm:spPr/>
    </dgm:pt>
    <dgm:pt modelId="{3686502A-C265-4800-838C-AAEAE880E316}" type="pres">
      <dgm:prSet presAssocID="{90A68ED7-ACAE-4A89-B111-366BDE9D7B7E}" presName="rootConnector" presStyleLbl="node2" presStyleIdx="2" presStyleCnt="3"/>
      <dgm:spPr/>
    </dgm:pt>
    <dgm:pt modelId="{15650077-FA21-4FD5-9924-10C8CE3BBB5E}" type="pres">
      <dgm:prSet presAssocID="{90A68ED7-ACAE-4A89-B111-366BDE9D7B7E}" presName="hierChild4" presStyleCnt="0"/>
      <dgm:spPr/>
    </dgm:pt>
    <dgm:pt modelId="{2E475EC6-5CE9-45C2-A0BE-18C3E0910682}" type="pres">
      <dgm:prSet presAssocID="{90A68ED7-ACAE-4A89-B111-366BDE9D7B7E}" presName="hierChild5" presStyleCnt="0"/>
      <dgm:spPr/>
    </dgm:pt>
    <dgm:pt modelId="{C8B021D3-88C3-4C35-8084-78649C438E27}" type="pres">
      <dgm:prSet presAssocID="{8D8BEF12-40D9-48B3-AA4C-9F062F3802C6}" presName="hierChild3" presStyleCnt="0"/>
      <dgm:spPr/>
    </dgm:pt>
  </dgm:ptLst>
  <dgm:cxnLst>
    <dgm:cxn modelId="{F8333310-8F18-494E-A768-15536C21C528}" type="presOf" srcId="{AA823FB9-741E-41D1-B22D-B0261DC396CE}" destId="{20AC0B93-E8FF-4B78-A281-91ECCCEA757D}" srcOrd="0" destOrd="0" presId="urn:microsoft.com/office/officeart/2009/3/layout/HorizontalOrganizationChart"/>
    <dgm:cxn modelId="{A3D9701B-2D13-45C5-8BBA-E43C074EF1FA}" type="presOf" srcId="{FB5B66D3-26C0-47F2-B984-5FD9BF72509C}" destId="{C7178A78-76DE-4DE1-B0F2-54CBCE06D362}" srcOrd="0" destOrd="0" presId="urn:microsoft.com/office/officeart/2009/3/layout/HorizontalOrganizationChart"/>
    <dgm:cxn modelId="{E7C59924-26C2-4441-B2D1-F60B76B03587}" type="presOf" srcId="{8CBF3E1F-AB70-4E16-A604-4EBBF834087B}" destId="{1192D9E5-7A1C-4104-949D-5ADE9BD4128B}" srcOrd="0" destOrd="0" presId="urn:microsoft.com/office/officeart/2009/3/layout/HorizontalOrganizationChart"/>
    <dgm:cxn modelId="{E98B3B28-FF95-4826-A27D-D99C0036B855}" type="presOf" srcId="{90A68ED7-ACAE-4A89-B111-366BDE9D7B7E}" destId="{AAA455E1-A6FB-4D42-800B-286D7FC8999E}" srcOrd="0" destOrd="0" presId="urn:microsoft.com/office/officeart/2009/3/layout/HorizontalOrganizationChart"/>
    <dgm:cxn modelId="{57FB522A-36C2-4578-B052-6EB544C40979}" type="presOf" srcId="{14A85830-E15F-47C0-8697-E920BC8771A4}" destId="{B980D154-2AC7-485A-A2E3-7B7BAF8C3790}" srcOrd="0" destOrd="0" presId="urn:microsoft.com/office/officeart/2009/3/layout/HorizontalOrganizationChart"/>
    <dgm:cxn modelId="{B46EA83C-77CC-41EF-8D2F-6D37DF67A1A8}" type="presOf" srcId="{90A68ED7-ACAE-4A89-B111-366BDE9D7B7E}" destId="{3686502A-C265-4800-838C-AAEAE880E316}" srcOrd="1" destOrd="0" presId="urn:microsoft.com/office/officeart/2009/3/layout/HorizontalOrganizationChart"/>
    <dgm:cxn modelId="{8365F65D-C5E2-4BE1-ADAC-115EAF6F2A8B}" type="presOf" srcId="{14A85830-E15F-47C0-8697-E920BC8771A4}" destId="{5CCA962D-D17A-4B78-9D9E-DA0C6A5676D5}" srcOrd="1" destOrd="0" presId="urn:microsoft.com/office/officeart/2009/3/layout/HorizontalOrganizationChart"/>
    <dgm:cxn modelId="{4012367D-6CF2-48AE-91AD-5C0FD0119629}" type="presOf" srcId="{66748A24-98F5-47AC-B37D-67387523D157}" destId="{70D87852-25F4-43B1-8A06-4EA901A53F97}" srcOrd="0" destOrd="0" presId="urn:microsoft.com/office/officeart/2009/3/layout/HorizontalOrganizationChart"/>
    <dgm:cxn modelId="{5BD19B8C-7A81-45E1-B06A-DEDDFB0F9320}" type="presOf" srcId="{BF20A097-E2AB-414D-BD88-C5C3D3B07957}" destId="{7A6EB651-02AA-46D4-B32F-A9C87B0AFE86}" srcOrd="0" destOrd="0" presId="urn:microsoft.com/office/officeart/2009/3/layout/HorizontalOrganizationChart"/>
    <dgm:cxn modelId="{05B51D8E-BC24-44C8-B529-D8E577EEA47B}" type="presOf" srcId="{8D8BEF12-40D9-48B3-AA4C-9F062F3802C6}" destId="{A2108E41-2163-4A16-9D9D-69C6A6AEF605}" srcOrd="0" destOrd="0" presId="urn:microsoft.com/office/officeart/2009/3/layout/HorizontalOrganizationChart"/>
    <dgm:cxn modelId="{397F2C8F-6395-4D2D-8325-5261E0654A8D}" type="presOf" srcId="{8D8BEF12-40D9-48B3-AA4C-9F062F3802C6}" destId="{6FA76394-8D91-43BF-8CDF-D8E833BFBA1D}" srcOrd="1" destOrd="0" presId="urn:microsoft.com/office/officeart/2009/3/layout/HorizontalOrganizationChart"/>
    <dgm:cxn modelId="{C4BBEC9C-C777-4202-8287-41D290B60A96}" srcId="{8D8BEF12-40D9-48B3-AA4C-9F062F3802C6}" destId="{8CBF3E1F-AB70-4E16-A604-4EBBF834087B}" srcOrd="0" destOrd="0" parTransId="{66748A24-98F5-47AC-B37D-67387523D157}" sibTransId="{5DBE4862-172A-4E6C-B3C6-896DACF9A50D}"/>
    <dgm:cxn modelId="{EABF66A1-9FBB-471A-846F-3795156F857C}" srcId="{BF20A097-E2AB-414D-BD88-C5C3D3B07957}" destId="{8D8BEF12-40D9-48B3-AA4C-9F062F3802C6}" srcOrd="0" destOrd="0" parTransId="{4EDE5B85-6D19-43D4-BFC8-7D8E3B2B2001}" sibTransId="{52DFE2D4-D758-4627-BB64-1F289A3BA6E4}"/>
    <dgm:cxn modelId="{DE56DDA4-FCF5-4D73-B8A1-2D800328B7AC}" srcId="{8D8BEF12-40D9-48B3-AA4C-9F062F3802C6}" destId="{14A85830-E15F-47C0-8697-E920BC8771A4}" srcOrd="1" destOrd="0" parTransId="{FB5B66D3-26C0-47F2-B984-5FD9BF72509C}" sibTransId="{374381FE-A634-4971-857D-49C25685865E}"/>
    <dgm:cxn modelId="{06F7C3D4-0DB5-4090-8299-FCDCAB30C0D6}" type="presOf" srcId="{8CBF3E1F-AB70-4E16-A604-4EBBF834087B}" destId="{254443AC-E568-4C6D-88F2-5EE437919671}" srcOrd="1" destOrd="0" presId="urn:microsoft.com/office/officeart/2009/3/layout/HorizontalOrganizationChart"/>
    <dgm:cxn modelId="{A38AC2ED-7CFF-451E-9CEF-B53C83AF1030}" srcId="{8D8BEF12-40D9-48B3-AA4C-9F062F3802C6}" destId="{90A68ED7-ACAE-4A89-B111-366BDE9D7B7E}" srcOrd="2" destOrd="0" parTransId="{AA823FB9-741E-41D1-B22D-B0261DC396CE}" sibTransId="{F7D4D44C-86A4-4534-BB87-603D01B4D981}"/>
    <dgm:cxn modelId="{8692DBDE-06E1-4428-A2A2-2FC6F8864D22}" type="presParOf" srcId="{7A6EB651-02AA-46D4-B32F-A9C87B0AFE86}" destId="{C45E2FBF-04EB-494C-A00D-AF283E7EB15F}" srcOrd="0" destOrd="0" presId="urn:microsoft.com/office/officeart/2009/3/layout/HorizontalOrganizationChart"/>
    <dgm:cxn modelId="{36FA01E1-6610-40A2-AF94-0597B7CEA8F9}" type="presParOf" srcId="{C45E2FBF-04EB-494C-A00D-AF283E7EB15F}" destId="{E6200813-BE70-44CB-93C5-3B86EB018549}" srcOrd="0" destOrd="0" presId="urn:microsoft.com/office/officeart/2009/3/layout/HorizontalOrganizationChart"/>
    <dgm:cxn modelId="{79272F0F-E50B-4A61-852B-1F26229D9E3F}" type="presParOf" srcId="{E6200813-BE70-44CB-93C5-3B86EB018549}" destId="{A2108E41-2163-4A16-9D9D-69C6A6AEF605}" srcOrd="0" destOrd="0" presId="urn:microsoft.com/office/officeart/2009/3/layout/HorizontalOrganizationChart"/>
    <dgm:cxn modelId="{FCB65D6C-81DC-4B21-8A42-E6ED59085B6B}" type="presParOf" srcId="{E6200813-BE70-44CB-93C5-3B86EB018549}" destId="{6FA76394-8D91-43BF-8CDF-D8E833BFBA1D}" srcOrd="1" destOrd="0" presId="urn:microsoft.com/office/officeart/2009/3/layout/HorizontalOrganizationChart"/>
    <dgm:cxn modelId="{A25CA5ED-AD09-447F-82AD-AEB390D8FF09}" type="presParOf" srcId="{C45E2FBF-04EB-494C-A00D-AF283E7EB15F}" destId="{968B15D6-5ABF-4835-AC76-C8D53582F08F}" srcOrd="1" destOrd="0" presId="urn:microsoft.com/office/officeart/2009/3/layout/HorizontalOrganizationChart"/>
    <dgm:cxn modelId="{6386B53E-12B3-4631-9AE6-4147D8399641}" type="presParOf" srcId="{968B15D6-5ABF-4835-AC76-C8D53582F08F}" destId="{70D87852-25F4-43B1-8A06-4EA901A53F97}" srcOrd="0" destOrd="0" presId="urn:microsoft.com/office/officeart/2009/3/layout/HorizontalOrganizationChart"/>
    <dgm:cxn modelId="{7967A903-DF20-47BB-9CED-011D5CD55764}" type="presParOf" srcId="{968B15D6-5ABF-4835-AC76-C8D53582F08F}" destId="{C0AD7D0B-D120-46AA-A114-743556171BEF}" srcOrd="1" destOrd="0" presId="urn:microsoft.com/office/officeart/2009/3/layout/HorizontalOrganizationChart"/>
    <dgm:cxn modelId="{E50937EC-5E86-405A-8B26-E1A9B95A566E}" type="presParOf" srcId="{C0AD7D0B-D120-46AA-A114-743556171BEF}" destId="{246944B1-1CB4-4643-89AD-6287222E2D2A}" srcOrd="0" destOrd="0" presId="urn:microsoft.com/office/officeart/2009/3/layout/HorizontalOrganizationChart"/>
    <dgm:cxn modelId="{D440C34C-5F07-4D58-B46B-81BF0A1FDCF3}" type="presParOf" srcId="{246944B1-1CB4-4643-89AD-6287222E2D2A}" destId="{1192D9E5-7A1C-4104-949D-5ADE9BD4128B}" srcOrd="0" destOrd="0" presId="urn:microsoft.com/office/officeart/2009/3/layout/HorizontalOrganizationChart"/>
    <dgm:cxn modelId="{3C487109-3F5F-444F-9081-4B9391984DB6}" type="presParOf" srcId="{246944B1-1CB4-4643-89AD-6287222E2D2A}" destId="{254443AC-E568-4C6D-88F2-5EE437919671}" srcOrd="1" destOrd="0" presId="urn:microsoft.com/office/officeart/2009/3/layout/HorizontalOrganizationChart"/>
    <dgm:cxn modelId="{A5075FAC-8960-4C45-847A-01F230D07022}" type="presParOf" srcId="{C0AD7D0B-D120-46AA-A114-743556171BEF}" destId="{D4929532-5A94-4A4C-8126-F9B9FB1222F6}" srcOrd="1" destOrd="0" presId="urn:microsoft.com/office/officeart/2009/3/layout/HorizontalOrganizationChart"/>
    <dgm:cxn modelId="{213A8B71-7055-4004-96B4-5BE174B054A7}" type="presParOf" srcId="{C0AD7D0B-D120-46AA-A114-743556171BEF}" destId="{8888B1BC-A283-494B-A43F-CA627C142478}" srcOrd="2" destOrd="0" presId="urn:microsoft.com/office/officeart/2009/3/layout/HorizontalOrganizationChart"/>
    <dgm:cxn modelId="{DA40F1AB-D3F8-43A4-A990-52FC12A136DA}" type="presParOf" srcId="{968B15D6-5ABF-4835-AC76-C8D53582F08F}" destId="{C7178A78-76DE-4DE1-B0F2-54CBCE06D362}" srcOrd="2" destOrd="0" presId="urn:microsoft.com/office/officeart/2009/3/layout/HorizontalOrganizationChart"/>
    <dgm:cxn modelId="{5C87741C-10BB-4707-AA6C-EFE9B3E68C26}" type="presParOf" srcId="{968B15D6-5ABF-4835-AC76-C8D53582F08F}" destId="{37692B3B-AB03-421C-8171-E8D0818F90A3}" srcOrd="3" destOrd="0" presId="urn:microsoft.com/office/officeart/2009/3/layout/HorizontalOrganizationChart"/>
    <dgm:cxn modelId="{19CE15F4-8531-4F51-A2CC-E902C7B073FF}" type="presParOf" srcId="{37692B3B-AB03-421C-8171-E8D0818F90A3}" destId="{7EDF0515-E74F-446D-B588-58EDA63978D5}" srcOrd="0" destOrd="0" presId="urn:microsoft.com/office/officeart/2009/3/layout/HorizontalOrganizationChart"/>
    <dgm:cxn modelId="{CA357C54-C84A-408E-8586-5B4E495445F4}" type="presParOf" srcId="{7EDF0515-E74F-446D-B588-58EDA63978D5}" destId="{B980D154-2AC7-485A-A2E3-7B7BAF8C3790}" srcOrd="0" destOrd="0" presId="urn:microsoft.com/office/officeart/2009/3/layout/HorizontalOrganizationChart"/>
    <dgm:cxn modelId="{BF7BE356-DB98-436D-8A5B-4076A4DC022C}" type="presParOf" srcId="{7EDF0515-E74F-446D-B588-58EDA63978D5}" destId="{5CCA962D-D17A-4B78-9D9E-DA0C6A5676D5}" srcOrd="1" destOrd="0" presId="urn:microsoft.com/office/officeart/2009/3/layout/HorizontalOrganizationChart"/>
    <dgm:cxn modelId="{D5A4E7B6-033E-448C-A780-F8AF72609D38}" type="presParOf" srcId="{37692B3B-AB03-421C-8171-E8D0818F90A3}" destId="{8A225BB1-51B0-46DE-814A-0AA24903C9E5}" srcOrd="1" destOrd="0" presId="urn:microsoft.com/office/officeart/2009/3/layout/HorizontalOrganizationChart"/>
    <dgm:cxn modelId="{DA392687-465E-4733-B19A-4DB17CCD5E92}" type="presParOf" srcId="{37692B3B-AB03-421C-8171-E8D0818F90A3}" destId="{FB7D78E5-811F-4216-ABF6-0B87172B82EC}" srcOrd="2" destOrd="0" presId="urn:microsoft.com/office/officeart/2009/3/layout/HorizontalOrganizationChart"/>
    <dgm:cxn modelId="{5F6EE1CF-4900-433A-86D5-05EEBE83AA7B}" type="presParOf" srcId="{968B15D6-5ABF-4835-AC76-C8D53582F08F}" destId="{20AC0B93-E8FF-4B78-A281-91ECCCEA757D}" srcOrd="4" destOrd="0" presId="urn:microsoft.com/office/officeart/2009/3/layout/HorizontalOrganizationChart"/>
    <dgm:cxn modelId="{CAA8266B-FDDB-4B86-B677-EB56903CADBC}" type="presParOf" srcId="{968B15D6-5ABF-4835-AC76-C8D53582F08F}" destId="{9EFB5DA6-2D35-43E8-AD48-48A19FAD4C39}" srcOrd="5" destOrd="0" presId="urn:microsoft.com/office/officeart/2009/3/layout/HorizontalOrganizationChart"/>
    <dgm:cxn modelId="{2D5DE2C5-775B-416A-A002-B9724ED9F02D}" type="presParOf" srcId="{9EFB5DA6-2D35-43E8-AD48-48A19FAD4C39}" destId="{D1A2E2D8-639F-4266-93AD-7E4A1EB1FD63}" srcOrd="0" destOrd="0" presId="urn:microsoft.com/office/officeart/2009/3/layout/HorizontalOrganizationChart"/>
    <dgm:cxn modelId="{95982858-E989-48EF-B03D-A3A5C575649F}" type="presParOf" srcId="{D1A2E2D8-639F-4266-93AD-7E4A1EB1FD63}" destId="{AAA455E1-A6FB-4D42-800B-286D7FC8999E}" srcOrd="0" destOrd="0" presId="urn:microsoft.com/office/officeart/2009/3/layout/HorizontalOrganizationChart"/>
    <dgm:cxn modelId="{277C9ED5-AFEC-4BE9-A29A-9C590F1100B6}" type="presParOf" srcId="{D1A2E2D8-639F-4266-93AD-7E4A1EB1FD63}" destId="{3686502A-C265-4800-838C-AAEAE880E316}" srcOrd="1" destOrd="0" presId="urn:microsoft.com/office/officeart/2009/3/layout/HorizontalOrganizationChart"/>
    <dgm:cxn modelId="{DD2E04BE-F9F3-4424-9A88-1482E888B030}" type="presParOf" srcId="{9EFB5DA6-2D35-43E8-AD48-48A19FAD4C39}" destId="{15650077-FA21-4FD5-9924-10C8CE3BBB5E}" srcOrd="1" destOrd="0" presId="urn:microsoft.com/office/officeart/2009/3/layout/HorizontalOrganizationChart"/>
    <dgm:cxn modelId="{F4184B30-CD8E-43F5-8951-B985D4E1C4B1}" type="presParOf" srcId="{9EFB5DA6-2D35-43E8-AD48-48A19FAD4C39}" destId="{2E475EC6-5CE9-45C2-A0BE-18C3E0910682}" srcOrd="2" destOrd="0" presId="urn:microsoft.com/office/officeart/2009/3/layout/HorizontalOrganizationChart"/>
    <dgm:cxn modelId="{AB3EB1DE-29C5-4621-A7A1-28B7CC1926F2}" type="presParOf" srcId="{C45E2FBF-04EB-494C-A00D-AF283E7EB15F}" destId="{C8B021D3-88C3-4C35-8084-78649C438E27}" srcOrd="2" destOrd="0" presId="urn:microsoft.com/office/officeart/2009/3/layout/Horizontal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3034699" y="-433725"/>
          <a:ext cx="381534" cy="4680565"/>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rtlCol="0" anchor="ctr" anchorCtr="1">
          <a:noAutofit/>
        </a:bodyPr>
        <a:lstStyle/>
        <a:p>
          <a:pPr marL="0" lvl="0" indent="0" algn="ctr" defTabSz="533400" rtl="0">
            <a:lnSpc>
              <a:spcPct val="90000"/>
            </a:lnSpc>
            <a:spcBef>
              <a:spcPct val="0"/>
            </a:spcBef>
            <a:spcAft>
              <a:spcPct val="35000"/>
            </a:spcAft>
            <a:buNone/>
          </a:pPr>
          <a:r>
            <a:rPr lang="pt-br" sz="1200" kern="1200" dirty="0"/>
            <a:t>1ª etapa</a:t>
          </a:r>
        </a:p>
      </dsp:txBody>
      <dsp:txXfrm rot="5400000">
        <a:off x="903809" y="1734415"/>
        <a:ext cx="4661940" cy="344284"/>
      </dsp:txXfrm>
    </dsp:sp>
    <dsp:sp modelId="{5A1B764B-0DC5-47CD-BDEA-9E67799496EC}">
      <dsp:nvSpPr>
        <dsp:cNvPr id="0" name=""/>
        <dsp:cNvSpPr/>
      </dsp:nvSpPr>
      <dsp:spPr>
        <a:xfrm>
          <a:off x="783356" y="0"/>
          <a:ext cx="4795710" cy="1335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rtlCol="0" anchor="b" anchorCtr="1">
          <a:noAutofit/>
        </a:bodyPr>
        <a:lstStyle/>
        <a:p>
          <a:pPr marL="0" lvl="0" indent="0" algn="ctr" defTabSz="800100" rtl="0">
            <a:lnSpc>
              <a:spcPct val="90000"/>
            </a:lnSpc>
            <a:spcBef>
              <a:spcPct val="0"/>
            </a:spcBef>
            <a:spcAft>
              <a:spcPct val="35000"/>
            </a:spcAft>
            <a:buNone/>
          </a:pPr>
          <a:r>
            <a:rPr lang="pt-br" sz="1800" kern="1200" dirty="0"/>
            <a:t>Pré-processamento</a:t>
          </a:r>
        </a:p>
      </dsp:txBody>
      <dsp:txXfrm>
        <a:off x="783356" y="0"/>
        <a:ext cx="4795710" cy="1335370"/>
      </dsp:txXfrm>
    </dsp:sp>
    <dsp:sp modelId="{122B38A3-0442-4747-820C-1F37877E2B0E}">
      <dsp:nvSpPr>
        <dsp:cNvPr id="0" name=""/>
        <dsp:cNvSpPr/>
      </dsp:nvSpPr>
      <dsp:spPr>
        <a:xfrm>
          <a:off x="3215812" y="1411676"/>
          <a:ext cx="0" cy="305227"/>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3181323" y="1335370"/>
          <a:ext cx="76306" cy="76306"/>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5581172" y="1715790"/>
          <a:ext cx="1715607" cy="381534"/>
        </a:xfrm>
        <a:prstGeom prst="rect">
          <a:avLst/>
        </a:prstGeom>
        <a:solidFill>
          <a:schemeClr val="accent1">
            <a:shade val="80000"/>
            <a:hueOff val="414003"/>
            <a:satOff val="-44646"/>
            <a:lumOff val="21947"/>
            <a:alphaOff val="0"/>
          </a:schemeClr>
        </a:solidFill>
        <a:ln w="22225" cap="rnd" cmpd="sng" algn="ctr">
          <a:solidFill>
            <a:schemeClr val="accent1">
              <a:shade val="80000"/>
              <a:hueOff val="414003"/>
              <a:satOff val="-44646"/>
              <a:lumOff val="2194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rtlCol="0" anchor="ctr" anchorCtr="1">
          <a:noAutofit/>
        </a:bodyPr>
        <a:lstStyle/>
        <a:p>
          <a:pPr marL="0" lvl="0" indent="0" algn="ctr" defTabSz="533400" rtl="0">
            <a:lnSpc>
              <a:spcPct val="90000"/>
            </a:lnSpc>
            <a:spcBef>
              <a:spcPct val="0"/>
            </a:spcBef>
            <a:spcAft>
              <a:spcPct val="35000"/>
            </a:spcAft>
            <a:buNone/>
          </a:pPr>
          <a:r>
            <a:rPr lang="pt-br" sz="1200" kern="1200" dirty="0"/>
            <a:t>2ª etapa</a:t>
          </a:r>
        </a:p>
      </dsp:txBody>
      <dsp:txXfrm>
        <a:off x="5581172" y="1715790"/>
        <a:ext cx="1715607" cy="381534"/>
      </dsp:txXfrm>
    </dsp:sp>
    <dsp:sp modelId="{DF65791B-462E-4589-B98D-F60587330CA8}">
      <dsp:nvSpPr>
        <dsp:cNvPr id="0" name=""/>
        <dsp:cNvSpPr/>
      </dsp:nvSpPr>
      <dsp:spPr>
        <a:xfrm>
          <a:off x="4085299" y="2479972"/>
          <a:ext cx="4795710" cy="1335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7160" rIns="0" bIns="0" numCol="1" spcCol="1270" rtlCol="0" anchor="t" anchorCtr="1">
          <a:noAutofit/>
        </a:bodyPr>
        <a:lstStyle/>
        <a:p>
          <a:pPr marL="0" lvl="0" indent="0" algn="ctr" defTabSz="800100" rtl="0">
            <a:lnSpc>
              <a:spcPct val="90000"/>
            </a:lnSpc>
            <a:spcBef>
              <a:spcPct val="0"/>
            </a:spcBef>
            <a:spcAft>
              <a:spcPct val="35000"/>
            </a:spcAft>
            <a:buNone/>
          </a:pPr>
          <a:r>
            <a:rPr lang="pt-br" sz="1800" kern="1200" dirty="0"/>
            <a:t>Treino (Validação Cruzada)</a:t>
          </a:r>
        </a:p>
      </dsp:txBody>
      <dsp:txXfrm>
        <a:off x="4085299" y="2479972"/>
        <a:ext cx="4795710" cy="1335370"/>
      </dsp:txXfrm>
    </dsp:sp>
    <dsp:sp modelId="{DBA410EB-5F61-4F46-92D9-C5B0AA59EE15}">
      <dsp:nvSpPr>
        <dsp:cNvPr id="0" name=""/>
        <dsp:cNvSpPr/>
      </dsp:nvSpPr>
      <dsp:spPr>
        <a:xfrm>
          <a:off x="6462693" y="2098438"/>
          <a:ext cx="0" cy="305227"/>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6418952" y="2384270"/>
          <a:ext cx="76306" cy="76306"/>
        </a:xfrm>
        <a:prstGeom prst="ellipse">
          <a:avLst/>
        </a:prstGeom>
        <a:solidFill>
          <a:schemeClr val="accent1">
            <a:shade val="80000"/>
            <a:hueOff val="414003"/>
            <a:satOff val="-44646"/>
            <a:lumOff val="2194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7693080" y="1337301"/>
          <a:ext cx="381534" cy="1138511"/>
        </a:xfrm>
        <a:prstGeom prst="round2SameRect">
          <a:avLst/>
        </a:prstGeom>
        <a:solidFill>
          <a:schemeClr val="accent1">
            <a:shade val="80000"/>
            <a:hueOff val="828006"/>
            <a:satOff val="-89291"/>
            <a:lumOff val="43893"/>
            <a:alphaOff val="0"/>
          </a:schemeClr>
        </a:solidFill>
        <a:ln w="22225" cap="rnd" cmpd="sng" algn="ctr">
          <a:solidFill>
            <a:schemeClr val="accent1">
              <a:shade val="80000"/>
              <a:hueOff val="828006"/>
              <a:satOff val="-89291"/>
              <a:lumOff val="4389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rtlCol="0" anchor="ctr" anchorCtr="1">
          <a:noAutofit/>
        </a:bodyPr>
        <a:lstStyle/>
        <a:p>
          <a:pPr marL="0" lvl="0" indent="0" algn="ctr" defTabSz="533400" rtl="0">
            <a:lnSpc>
              <a:spcPct val="90000"/>
            </a:lnSpc>
            <a:spcBef>
              <a:spcPct val="0"/>
            </a:spcBef>
            <a:spcAft>
              <a:spcPct val="35000"/>
            </a:spcAft>
            <a:buNone/>
          </a:pPr>
          <a:r>
            <a:rPr lang="pt-br" sz="1200" kern="1200" dirty="0"/>
            <a:t>3ª etapa</a:t>
          </a:r>
        </a:p>
      </dsp:txBody>
      <dsp:txXfrm rot="-5400000">
        <a:off x="7314592" y="1734415"/>
        <a:ext cx="1119886" cy="344284"/>
      </dsp:txXfrm>
    </dsp:sp>
    <dsp:sp modelId="{B4723E2A-4FF1-452A-BD25-8EC364F15A6F}">
      <dsp:nvSpPr>
        <dsp:cNvPr id="0" name=""/>
        <dsp:cNvSpPr/>
      </dsp:nvSpPr>
      <dsp:spPr>
        <a:xfrm>
          <a:off x="5528952" y="0"/>
          <a:ext cx="4795710" cy="1335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37160" numCol="1" spcCol="1270" rtlCol="0" anchor="b" anchorCtr="1">
          <a:noAutofit/>
        </a:bodyPr>
        <a:lstStyle/>
        <a:p>
          <a:pPr marL="0" lvl="0" indent="0" algn="ctr" defTabSz="800100" rtl="0">
            <a:lnSpc>
              <a:spcPct val="90000"/>
            </a:lnSpc>
            <a:spcBef>
              <a:spcPct val="0"/>
            </a:spcBef>
            <a:spcAft>
              <a:spcPct val="35000"/>
            </a:spcAft>
            <a:buNone/>
          </a:pPr>
          <a:r>
            <a:rPr lang="pt-br" sz="1800" kern="1200" dirty="0"/>
            <a:t>Testes (Base desconhecida)</a:t>
          </a:r>
        </a:p>
      </dsp:txBody>
      <dsp:txXfrm>
        <a:off x="5528952" y="0"/>
        <a:ext cx="4795710" cy="1335370"/>
      </dsp:txXfrm>
    </dsp:sp>
    <dsp:sp modelId="{440E9361-37D2-4157-AF38-7B49AD23708B}">
      <dsp:nvSpPr>
        <dsp:cNvPr id="0" name=""/>
        <dsp:cNvSpPr/>
      </dsp:nvSpPr>
      <dsp:spPr>
        <a:xfrm>
          <a:off x="7880774" y="1411676"/>
          <a:ext cx="0" cy="305227"/>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7847249" y="1335370"/>
          <a:ext cx="76306" cy="76306"/>
        </a:xfrm>
        <a:prstGeom prst="ellipse">
          <a:avLst/>
        </a:prstGeom>
        <a:solidFill>
          <a:schemeClr val="accent1">
            <a:shade val="80000"/>
            <a:hueOff val="828006"/>
            <a:satOff val="-89291"/>
            <a:lumOff val="4389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C0B93-E8FF-4B78-A281-91ECCCEA757D}">
      <dsp:nvSpPr>
        <dsp:cNvPr id="0" name=""/>
        <dsp:cNvSpPr/>
      </dsp:nvSpPr>
      <dsp:spPr>
        <a:xfrm>
          <a:off x="3015663" y="2213648"/>
          <a:ext cx="606375" cy="1279351"/>
        </a:xfrm>
        <a:custGeom>
          <a:avLst/>
          <a:gdLst/>
          <a:ahLst/>
          <a:cxnLst/>
          <a:rect l="0" t="0" r="0" b="0"/>
          <a:pathLst>
            <a:path>
              <a:moveTo>
                <a:pt x="606375" y="0"/>
              </a:moveTo>
              <a:lnTo>
                <a:pt x="301566" y="0"/>
              </a:lnTo>
              <a:lnTo>
                <a:pt x="301566" y="1279351"/>
              </a:lnTo>
              <a:lnTo>
                <a:pt x="0" y="1279351"/>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178A78-76DE-4DE1-B0F2-54CBCE06D362}">
      <dsp:nvSpPr>
        <dsp:cNvPr id="0" name=""/>
        <dsp:cNvSpPr/>
      </dsp:nvSpPr>
      <dsp:spPr>
        <a:xfrm>
          <a:off x="3015663" y="2167928"/>
          <a:ext cx="606375" cy="91440"/>
        </a:xfrm>
        <a:custGeom>
          <a:avLst/>
          <a:gdLst/>
          <a:ahLst/>
          <a:cxnLst/>
          <a:rect l="0" t="0" r="0" b="0"/>
          <a:pathLst>
            <a:path>
              <a:moveTo>
                <a:pt x="606375" y="45720"/>
              </a:moveTo>
              <a:lnTo>
                <a:pt x="0" y="45720"/>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D87852-25F4-43B1-8A06-4EA901A53F97}">
      <dsp:nvSpPr>
        <dsp:cNvPr id="0" name=""/>
        <dsp:cNvSpPr/>
      </dsp:nvSpPr>
      <dsp:spPr>
        <a:xfrm>
          <a:off x="3015663" y="947367"/>
          <a:ext cx="606375" cy="1266281"/>
        </a:xfrm>
        <a:custGeom>
          <a:avLst/>
          <a:gdLst/>
          <a:ahLst/>
          <a:cxnLst/>
          <a:rect l="0" t="0" r="0" b="0"/>
          <a:pathLst>
            <a:path>
              <a:moveTo>
                <a:pt x="606375" y="1266281"/>
              </a:moveTo>
              <a:lnTo>
                <a:pt x="301566" y="1266281"/>
              </a:lnTo>
              <a:lnTo>
                <a:pt x="301566" y="0"/>
              </a:lnTo>
              <a:lnTo>
                <a:pt x="0" y="0"/>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108E41-2163-4A16-9D9D-69C6A6AEF605}">
      <dsp:nvSpPr>
        <dsp:cNvPr id="0" name=""/>
        <dsp:cNvSpPr/>
      </dsp:nvSpPr>
      <dsp:spPr>
        <a:xfrm>
          <a:off x="3622038" y="1753759"/>
          <a:ext cx="3015663" cy="919777"/>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pt-BR" sz="2400" i="1" kern="1200" dirty="0" err="1"/>
            <a:t>GridSearchCV</a:t>
          </a:r>
          <a:endParaRPr lang="pt-BR" sz="2400" i="1" kern="1200" dirty="0"/>
        </a:p>
      </dsp:txBody>
      <dsp:txXfrm>
        <a:off x="3622038" y="1753759"/>
        <a:ext cx="3015663" cy="919777"/>
      </dsp:txXfrm>
    </dsp:sp>
    <dsp:sp modelId="{1192D9E5-7A1C-4104-949D-5ADE9BD4128B}">
      <dsp:nvSpPr>
        <dsp:cNvPr id="0" name=""/>
        <dsp:cNvSpPr/>
      </dsp:nvSpPr>
      <dsp:spPr>
        <a:xfrm>
          <a:off x="0" y="487478"/>
          <a:ext cx="3015663" cy="919777"/>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pt-BR" sz="2000" kern="1200" dirty="0"/>
            <a:t>Recursos de Entrada</a:t>
          </a:r>
        </a:p>
        <a:p>
          <a:pPr marL="0" lvl="0" indent="0" algn="ctr" defTabSz="889000">
            <a:lnSpc>
              <a:spcPct val="90000"/>
            </a:lnSpc>
            <a:spcBef>
              <a:spcPct val="0"/>
            </a:spcBef>
            <a:spcAft>
              <a:spcPct val="35000"/>
            </a:spcAft>
            <a:buNone/>
          </a:pPr>
          <a:r>
            <a:rPr lang="pt-BR" sz="2000" kern="1200" dirty="0"/>
            <a:t>(1, 2, 3, 4, 5, 6, 7)</a:t>
          </a:r>
        </a:p>
      </dsp:txBody>
      <dsp:txXfrm>
        <a:off x="0" y="487478"/>
        <a:ext cx="3015663" cy="919777"/>
      </dsp:txXfrm>
    </dsp:sp>
    <dsp:sp modelId="{B980D154-2AC7-485A-A2E3-7B7BAF8C3790}">
      <dsp:nvSpPr>
        <dsp:cNvPr id="0" name=""/>
        <dsp:cNvSpPr/>
      </dsp:nvSpPr>
      <dsp:spPr>
        <a:xfrm>
          <a:off x="0" y="1753759"/>
          <a:ext cx="3015663" cy="919777"/>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pt-BR" sz="2000" kern="1200" dirty="0"/>
            <a:t>Número de Neurônios</a:t>
          </a:r>
        </a:p>
        <a:p>
          <a:pPr marL="0" lvl="0" indent="0" algn="ctr" defTabSz="889000">
            <a:lnSpc>
              <a:spcPct val="90000"/>
            </a:lnSpc>
            <a:spcBef>
              <a:spcPct val="0"/>
            </a:spcBef>
            <a:spcAft>
              <a:spcPct val="35000"/>
            </a:spcAft>
            <a:buNone/>
          </a:pPr>
          <a:r>
            <a:rPr lang="pt-BR" sz="2000" kern="1200" dirty="0"/>
            <a:t>(10, 30, 50)</a:t>
          </a:r>
        </a:p>
      </dsp:txBody>
      <dsp:txXfrm>
        <a:off x="0" y="1753759"/>
        <a:ext cx="3015663" cy="919777"/>
      </dsp:txXfrm>
    </dsp:sp>
    <dsp:sp modelId="{AAA455E1-A6FB-4D42-800B-286D7FC8999E}">
      <dsp:nvSpPr>
        <dsp:cNvPr id="0" name=""/>
        <dsp:cNvSpPr/>
      </dsp:nvSpPr>
      <dsp:spPr>
        <a:xfrm>
          <a:off x="0" y="3033111"/>
          <a:ext cx="3015663" cy="919777"/>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pt-BR" sz="2000" kern="1200" dirty="0"/>
            <a:t>Número de Iterações</a:t>
          </a:r>
        </a:p>
        <a:p>
          <a:pPr marL="0" lvl="0" indent="0" algn="ctr" defTabSz="889000">
            <a:lnSpc>
              <a:spcPct val="90000"/>
            </a:lnSpc>
            <a:spcBef>
              <a:spcPct val="0"/>
            </a:spcBef>
            <a:spcAft>
              <a:spcPct val="35000"/>
            </a:spcAft>
            <a:buNone/>
          </a:pPr>
          <a:r>
            <a:rPr lang="pt-BR" sz="2000" kern="1200" dirty="0"/>
            <a:t>(1500, 3000, 5000)</a:t>
          </a:r>
        </a:p>
      </dsp:txBody>
      <dsp:txXfrm>
        <a:off x="0" y="3033111"/>
        <a:ext cx="3015663" cy="919777"/>
      </dsp:txXfrm>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2C0A50A-E1AF-4D0A-877B-79573E96B26C}" type="datetime1">
              <a:rPr lang="pt-BR" smtClean="0"/>
              <a:t>07/06/2026</a:t>
            </a:fld>
            <a:endParaRPr lang="en-US" dirty="0"/>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ço Reservado para o Número do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‹nº›</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B4431DD-63F2-4E86-8430-6B3E8223C379}" type="datetime1">
              <a:rPr lang="pt-BR" smtClean="0"/>
              <a:t>07/06/2026</a:t>
            </a:fld>
            <a:endParaRPr lang="en-US"/>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a:t>Clique para editar o texto Mestre</a:t>
            </a:r>
            <a:endParaRPr lang="en-US"/>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‹nº›</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tângu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pt-BR"/>
              <a:t>Clique para editar o título Mestre</a:t>
            </a:r>
            <a:endParaRPr lang="en-US" dirty="0"/>
          </a:p>
        </p:txBody>
      </p:sp>
      <p:sp>
        <p:nvSpPr>
          <p:cNvPr id="3" name="Subtítulo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a:t>Clique para editar o estilo do subtítulo Mestre</a:t>
            </a:r>
            <a:endParaRPr lang="en-US" dirty="0"/>
          </a:p>
        </p:txBody>
      </p:sp>
      <p:sp>
        <p:nvSpPr>
          <p:cNvPr id="8" name="Espaço Reservado para Dat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D33FD6CF-7D8D-4470-9F2C-40284CBEE22A}" type="datetime1">
              <a:rPr lang="pt-BR" smtClean="0"/>
              <a:t>07/06/2026</a:t>
            </a:fld>
            <a:endParaRPr lang="en-US" dirty="0"/>
          </a:p>
        </p:txBody>
      </p:sp>
      <p:sp>
        <p:nvSpPr>
          <p:cNvPr id="9" name="Espaço Reservado para Rodapé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Espaço reservado para o número do slide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581192" y="702156"/>
            <a:ext cx="11029616" cy="1188720"/>
          </a:xfrm>
        </p:spPr>
        <p:txBody>
          <a:bodyPr rtlCol="0"/>
          <a:lstStyle/>
          <a:p>
            <a:pPr rtl="0"/>
            <a:r>
              <a:rPr lang="pt-BR"/>
              <a:t>Clique para editar o título Mestre</a:t>
            </a:r>
            <a:endParaRPr lang="en-US" dirty="0"/>
          </a:p>
        </p:txBody>
      </p:sp>
      <p:sp>
        <p:nvSpPr>
          <p:cNvPr id="3" name="Espaço reservado para conteúdo 2"/>
          <p:cNvSpPr>
            <a:spLocks noGrp="1"/>
          </p:cNvSpPr>
          <p:nvPr>
            <p:ph idx="1"/>
          </p:nvPr>
        </p:nvSpPr>
        <p:spPr>
          <a:xfrm>
            <a:off x="581192" y="2340864"/>
            <a:ext cx="11029615" cy="3634486"/>
          </a:xfrm>
        </p:spPr>
        <p:txBody>
          <a:bodyPr rtlCol="0"/>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Espaço Reservado para Dat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6EEBB24E-5DD3-4E01-A990-E7E913361932}" type="datetime1">
              <a:rPr lang="pt-BR" smtClean="0"/>
              <a:t>07/06/2026</a:t>
            </a:fld>
            <a:endParaRPr lang="en-US" dirty="0"/>
          </a:p>
        </p:txBody>
      </p:sp>
      <p:sp>
        <p:nvSpPr>
          <p:cNvPr id="9" name="Espaço Reservado para Rodapé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Espaço reservado para o número do slide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tângu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pt-BR"/>
              <a:t>Clique para editar o título Mestre</a:t>
            </a:r>
            <a:endParaRPr lang="en-US" dirty="0"/>
          </a:p>
        </p:txBody>
      </p:sp>
      <p:sp>
        <p:nvSpPr>
          <p:cNvPr id="3" name="Espaço reservado para tex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a:t>Clique para editar os estilos de texto Mestres</a:t>
            </a:r>
          </a:p>
        </p:txBody>
      </p:sp>
      <p:sp>
        <p:nvSpPr>
          <p:cNvPr id="7" name="Espaço Reservado para Dat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EB09EEDE-4F2A-4514-A141-8290D7C0C5F9}" type="datetime1">
              <a:rPr lang="pt-BR" smtClean="0"/>
              <a:t>07/06/2026</a:t>
            </a:fld>
            <a:endParaRPr lang="en-US" dirty="0"/>
          </a:p>
        </p:txBody>
      </p:sp>
      <p:sp>
        <p:nvSpPr>
          <p:cNvPr id="9" name="Espaço Reservado para Rodapé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Espaço reservado para o número do slide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2" name="Título 1"/>
          <p:cNvSpPr>
            <a:spLocks noGrp="1"/>
          </p:cNvSpPr>
          <p:nvPr>
            <p:ph type="title"/>
          </p:nvPr>
        </p:nvSpPr>
        <p:spPr>
          <a:xfrm>
            <a:off x="581193" y="729658"/>
            <a:ext cx="11029616" cy="988332"/>
          </a:xfrm>
        </p:spPr>
        <p:txBody>
          <a:bodyPr rtlCol="0"/>
          <a:lstStyle/>
          <a:p>
            <a:pPr rtl="0"/>
            <a:r>
              <a:rPr lang="pt-BR"/>
              <a:t>Clique para editar o título Mestre</a:t>
            </a:r>
            <a:endParaRPr lang="en-US" dirty="0"/>
          </a:p>
        </p:txBody>
      </p:sp>
      <p:sp>
        <p:nvSpPr>
          <p:cNvPr id="3" name="Espaço reservado para conteúdo 2"/>
          <p:cNvSpPr>
            <a:spLocks noGrp="1"/>
          </p:cNvSpPr>
          <p:nvPr>
            <p:ph sz="half" idx="1"/>
          </p:nvPr>
        </p:nvSpPr>
        <p:spPr>
          <a:xfrm>
            <a:off x="581193" y="2228003"/>
            <a:ext cx="5194767" cy="3633047"/>
          </a:xfrm>
        </p:spPr>
        <p:txBody>
          <a:bodyPr rtlCol="0">
            <a:normAutofit/>
          </a:body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conteúdo 3"/>
          <p:cNvSpPr>
            <a:spLocks noGrp="1"/>
          </p:cNvSpPr>
          <p:nvPr>
            <p:ph sz="half" idx="2"/>
          </p:nvPr>
        </p:nvSpPr>
        <p:spPr>
          <a:xfrm>
            <a:off x="6416039" y="2228003"/>
            <a:ext cx="5194769" cy="3633047"/>
          </a:xfrm>
        </p:spPr>
        <p:txBody>
          <a:bodyPr rtlCol="0">
            <a:normAutofit/>
          </a:body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Data 4"/>
          <p:cNvSpPr>
            <a:spLocks noGrp="1"/>
          </p:cNvSpPr>
          <p:nvPr>
            <p:ph type="dt" sz="half" idx="10"/>
          </p:nvPr>
        </p:nvSpPr>
        <p:spPr/>
        <p:txBody>
          <a:bodyPr rtlCol="0"/>
          <a:lstStyle/>
          <a:p>
            <a:pPr rtl="0"/>
            <a:fld id="{9C80C7B8-3E83-44DB-805D-C59954C31ECE}" type="datetime1">
              <a:rPr lang="pt-BR" smtClean="0"/>
              <a:t>07/06/2026</a:t>
            </a:fld>
            <a:endParaRPr lang="en-US" dirty="0"/>
          </a:p>
        </p:txBody>
      </p:sp>
      <p:sp>
        <p:nvSpPr>
          <p:cNvPr id="6" name="Espaço Reservado para Rodapé 5"/>
          <p:cNvSpPr>
            <a:spLocks noGrp="1"/>
          </p:cNvSpPr>
          <p:nvPr>
            <p:ph type="ftr" sz="quarter" idx="11"/>
          </p:nvPr>
        </p:nvSpPr>
        <p:spPr/>
        <p:txBody>
          <a:bodyPr rtlCol="0"/>
          <a:lstStyle/>
          <a:p>
            <a:pPr rtl="0"/>
            <a:endParaRPr lang="en-US" dirty="0"/>
          </a:p>
        </p:txBody>
      </p:sp>
      <p:sp>
        <p:nvSpPr>
          <p:cNvPr id="7" name="Espaço Reservado para o Número do Slide 6"/>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ção">
    <p:spTree>
      <p:nvGrpSpPr>
        <p:cNvPr id="1" name=""/>
        <p:cNvGrpSpPr/>
        <p:nvPr/>
      </p:nvGrpSpPr>
      <p:grpSpPr>
        <a:xfrm>
          <a:off x="0" y="0"/>
          <a:ext cx="0" cy="0"/>
          <a:chOff x="0" y="0"/>
          <a:chExt cx="0" cy="0"/>
        </a:xfrm>
      </p:grpSpPr>
      <p:sp>
        <p:nvSpPr>
          <p:cNvPr id="12" name="Título 1"/>
          <p:cNvSpPr>
            <a:spLocks noGrp="1"/>
          </p:cNvSpPr>
          <p:nvPr>
            <p:ph type="title"/>
          </p:nvPr>
        </p:nvSpPr>
        <p:spPr>
          <a:xfrm>
            <a:off x="581193" y="729658"/>
            <a:ext cx="11029616" cy="988332"/>
          </a:xfrm>
        </p:spPr>
        <p:txBody>
          <a:bodyPr rtlCol="0"/>
          <a:lstStyle/>
          <a:p>
            <a:pPr rtl="0"/>
            <a:r>
              <a:rPr lang="pt-BR"/>
              <a:t>Clique para editar o título Mestre</a:t>
            </a:r>
            <a:endParaRPr lang="en-US" dirty="0"/>
          </a:p>
        </p:txBody>
      </p:sp>
      <p:sp>
        <p:nvSpPr>
          <p:cNvPr id="3" name="Espaço reservado para texto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os estilos de texto Mestres</a:t>
            </a:r>
          </a:p>
        </p:txBody>
      </p:sp>
      <p:sp>
        <p:nvSpPr>
          <p:cNvPr id="4" name="Espaço reservado para conteúdo 3"/>
          <p:cNvSpPr>
            <a:spLocks noGrp="1"/>
          </p:cNvSpPr>
          <p:nvPr>
            <p:ph sz="half" idx="2"/>
          </p:nvPr>
        </p:nvSpPr>
        <p:spPr>
          <a:xfrm>
            <a:off x="581194" y="2926052"/>
            <a:ext cx="5194766" cy="2934999"/>
          </a:xfrm>
        </p:spPr>
        <p:txBody>
          <a:bodyPr rtlCol="0" anchor="t">
            <a:normAutofit/>
          </a:body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5" name="Espaço reservado para texto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pt-BR"/>
              <a:t>Clique para editar os estilos de texto Mestres</a:t>
            </a:r>
          </a:p>
        </p:txBody>
      </p:sp>
      <p:sp>
        <p:nvSpPr>
          <p:cNvPr id="6" name="Espaço reservado para conteúdo 5"/>
          <p:cNvSpPr>
            <a:spLocks noGrp="1"/>
          </p:cNvSpPr>
          <p:nvPr>
            <p:ph sz="quarter" idx="4"/>
          </p:nvPr>
        </p:nvSpPr>
        <p:spPr>
          <a:xfrm>
            <a:off x="6416037" y="2926052"/>
            <a:ext cx="5194771" cy="2934999"/>
          </a:xfrm>
        </p:spPr>
        <p:txBody>
          <a:bodyPr rtlCol="0" anchor="t">
            <a:normAutofit/>
          </a:body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7" name="Espaço Reservado para Data 6"/>
          <p:cNvSpPr>
            <a:spLocks noGrp="1"/>
          </p:cNvSpPr>
          <p:nvPr>
            <p:ph type="dt" sz="half" idx="10"/>
          </p:nvPr>
        </p:nvSpPr>
        <p:spPr/>
        <p:txBody>
          <a:bodyPr rtlCol="0"/>
          <a:lstStyle/>
          <a:p>
            <a:pPr rtl="0"/>
            <a:fld id="{E09CBBAF-C71C-432D-9A69-DC53FB6B4E2D}" type="datetime1">
              <a:rPr lang="pt-BR" smtClean="0"/>
              <a:t>07/06/2026</a:t>
            </a:fld>
            <a:endParaRPr lang="en-US" dirty="0"/>
          </a:p>
        </p:txBody>
      </p:sp>
      <p:sp>
        <p:nvSpPr>
          <p:cNvPr id="8" name="Espaço Reservado para Rodapé 7"/>
          <p:cNvSpPr>
            <a:spLocks noGrp="1"/>
          </p:cNvSpPr>
          <p:nvPr>
            <p:ph type="ftr" sz="quarter" idx="11"/>
          </p:nvPr>
        </p:nvSpPr>
        <p:spPr/>
        <p:txBody>
          <a:bodyPr rtlCol="0"/>
          <a:lstStyle/>
          <a:p>
            <a:pPr rtl="0"/>
            <a:endParaRPr lang="en-US" dirty="0"/>
          </a:p>
        </p:txBody>
      </p:sp>
      <p:sp>
        <p:nvSpPr>
          <p:cNvPr id="9" name="Espaço Reservado para o Número do Slide 8"/>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8" name="Título 1"/>
          <p:cNvSpPr>
            <a:spLocks noGrp="1"/>
          </p:cNvSpPr>
          <p:nvPr>
            <p:ph type="title"/>
          </p:nvPr>
        </p:nvSpPr>
        <p:spPr>
          <a:xfrm>
            <a:off x="575894" y="729658"/>
            <a:ext cx="11029616" cy="988332"/>
          </a:xfrm>
        </p:spPr>
        <p:txBody>
          <a:bodyPr rtlCol="0"/>
          <a:lstStyle/>
          <a:p>
            <a:pPr rtl="0"/>
            <a:r>
              <a:rPr lang="pt-BR"/>
              <a:t>Clique para editar o título Mestre</a:t>
            </a:r>
            <a:endParaRPr lang="en-US" dirty="0"/>
          </a:p>
        </p:txBody>
      </p:sp>
      <p:sp>
        <p:nvSpPr>
          <p:cNvPr id="3" name="Espaço Reservado para Data 2"/>
          <p:cNvSpPr>
            <a:spLocks noGrp="1"/>
          </p:cNvSpPr>
          <p:nvPr>
            <p:ph type="dt" sz="half" idx="10"/>
          </p:nvPr>
        </p:nvSpPr>
        <p:spPr/>
        <p:txBody>
          <a:bodyPr rtlCol="0"/>
          <a:lstStyle/>
          <a:p>
            <a:pPr rtl="0"/>
            <a:fld id="{28BDC511-3C16-44E4-92EF-C6B950EE8EC4}" type="datetime1">
              <a:rPr lang="pt-BR" smtClean="0"/>
              <a:t>07/06/2026</a:t>
            </a:fld>
            <a:endParaRPr lang="en-US" dirty="0"/>
          </a:p>
        </p:txBody>
      </p:sp>
      <p:sp>
        <p:nvSpPr>
          <p:cNvPr id="4" name="Espaço Reservado para Rodapé 3"/>
          <p:cNvSpPr>
            <a:spLocks noGrp="1"/>
          </p:cNvSpPr>
          <p:nvPr>
            <p:ph type="ftr" sz="quarter" idx="11"/>
          </p:nvPr>
        </p:nvSpPr>
        <p:spPr/>
        <p:txBody>
          <a:bodyPr rtlCol="0"/>
          <a:lstStyle/>
          <a:p>
            <a:pPr rtl="0"/>
            <a:endParaRPr lang="en-US" dirty="0"/>
          </a:p>
        </p:txBody>
      </p:sp>
      <p:sp>
        <p:nvSpPr>
          <p:cNvPr id="5" name="Espaço Reservado para o Número do Slide 4"/>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rtlCol="0"/>
          <a:lstStyle/>
          <a:p>
            <a:pPr rtl="0"/>
            <a:fld id="{DF9FFFF1-28B2-434C-AB7A-5EAFBA182D21}" type="datetime1">
              <a:rPr lang="pt-BR" smtClean="0"/>
              <a:t>07/06/2026</a:t>
            </a:fld>
            <a:endParaRPr lang="en-US" dirty="0"/>
          </a:p>
        </p:txBody>
      </p:sp>
      <p:sp>
        <p:nvSpPr>
          <p:cNvPr id="3" name="Espaço Reservado para Rodapé 2"/>
          <p:cNvSpPr>
            <a:spLocks noGrp="1"/>
          </p:cNvSpPr>
          <p:nvPr>
            <p:ph type="ftr" sz="quarter" idx="11"/>
          </p:nvPr>
        </p:nvSpPr>
        <p:spPr/>
        <p:txBody>
          <a:bodyPr rtlCol="0"/>
          <a:lstStyle/>
          <a:p>
            <a:pPr rtl="0"/>
            <a:endParaRPr lang="en-US" dirty="0"/>
          </a:p>
        </p:txBody>
      </p:sp>
      <p:sp>
        <p:nvSpPr>
          <p:cNvPr id="4" name="Espaço reservado para o número do slide 3"/>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tâ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767857" y="933450"/>
            <a:ext cx="3031852" cy="1722419"/>
          </a:xfrm>
        </p:spPr>
        <p:txBody>
          <a:bodyPr rtlCol="0" anchor="b">
            <a:normAutofit/>
          </a:bodyPr>
          <a:lstStyle>
            <a:lvl1pPr algn="l">
              <a:defRPr sz="2400" b="0">
                <a:solidFill>
                  <a:srgbClr val="FFFFFF"/>
                </a:solidFill>
              </a:defRPr>
            </a:lvl1pPr>
          </a:lstStyle>
          <a:p>
            <a:pPr rtl="0"/>
            <a:r>
              <a:rPr lang="pt-br" dirty="0"/>
              <a:t>Clique para editar o estilo de título Mestre</a:t>
            </a:r>
            <a:endParaRPr lang="en-US" dirty="0"/>
          </a:p>
        </p:txBody>
      </p:sp>
      <p:sp>
        <p:nvSpPr>
          <p:cNvPr id="3" name="Espaço reservado para conteú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texto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a:t>Clique para editar os estilos de texto Mestres</a:t>
            </a:r>
          </a:p>
        </p:txBody>
      </p:sp>
      <p:sp>
        <p:nvSpPr>
          <p:cNvPr id="8" name="Espaço Reservado para Dat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701F141C-949F-474F-9E74-3B5F20546E6B}" type="datetime1">
              <a:rPr lang="pt-BR" smtClean="0"/>
              <a:t>07/06/2026</a:t>
            </a:fld>
            <a:endParaRPr lang="en-US" dirty="0"/>
          </a:p>
        </p:txBody>
      </p:sp>
      <p:sp>
        <p:nvSpPr>
          <p:cNvPr id="10" name="Espaço Reservado para Rodapé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Espaço Reservado para o Número do Slide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rtl="0"/>
              <a:t>‹nº›</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pt-BR"/>
              <a:t>Clique para editar o título Mestre</a:t>
            </a:r>
            <a:endParaRPr lang="en-US" dirty="0"/>
          </a:p>
        </p:txBody>
      </p:sp>
      <p:sp>
        <p:nvSpPr>
          <p:cNvPr id="3" name="Espaço Reservado para Imagem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pt-BR"/>
              <a:t>Clique no ícone para adicionar uma imagem</a:t>
            </a:r>
            <a:endParaRPr lang="en-US" dirty="0"/>
          </a:p>
        </p:txBody>
      </p:sp>
      <p:sp>
        <p:nvSpPr>
          <p:cNvPr id="4" name="Espaço reservado para tex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a:t>Clique para editar os estilos de texto Mestres</a:t>
            </a:r>
          </a:p>
        </p:txBody>
      </p:sp>
      <p:sp>
        <p:nvSpPr>
          <p:cNvPr id="5" name="Espaço Reservado para Data 4"/>
          <p:cNvSpPr>
            <a:spLocks noGrp="1"/>
          </p:cNvSpPr>
          <p:nvPr>
            <p:ph type="dt" sz="half" idx="10"/>
          </p:nvPr>
        </p:nvSpPr>
        <p:spPr/>
        <p:txBody>
          <a:bodyPr rtlCol="0"/>
          <a:lstStyle/>
          <a:p>
            <a:pPr rtl="0"/>
            <a:fld id="{BD12D425-E3BA-44CA-8623-B38416E5A48E}" type="datetime1">
              <a:rPr lang="pt-BR" smtClean="0"/>
              <a:t>07/06/2026</a:t>
            </a:fld>
            <a:endParaRPr lang="en-US" dirty="0"/>
          </a:p>
        </p:txBody>
      </p:sp>
      <p:sp>
        <p:nvSpPr>
          <p:cNvPr id="6" name="Espaço Reservado para Rodapé 5"/>
          <p:cNvSpPr>
            <a:spLocks noGrp="1"/>
          </p:cNvSpPr>
          <p:nvPr>
            <p:ph type="ftr" sz="quarter" idx="11"/>
          </p:nvPr>
        </p:nvSpPr>
        <p:spPr/>
        <p:txBody>
          <a:bodyPr rtlCol="0"/>
          <a:lstStyle/>
          <a:p>
            <a:pPr algn="l" rtl="0"/>
            <a:endParaRPr lang="en-US" dirty="0"/>
          </a:p>
        </p:txBody>
      </p:sp>
      <p:sp>
        <p:nvSpPr>
          <p:cNvPr id="7" name="Espaço Reservado para o Número do Slide 6"/>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9" name="Título 1"/>
          <p:cNvSpPr>
            <a:spLocks noGrp="1"/>
          </p:cNvSpPr>
          <p:nvPr>
            <p:ph type="title"/>
          </p:nvPr>
        </p:nvSpPr>
        <p:spPr>
          <a:xfrm>
            <a:off x="581192" y="702156"/>
            <a:ext cx="11029616" cy="1013800"/>
          </a:xfrm>
        </p:spPr>
        <p:txBody>
          <a:bodyPr rtlCol="0"/>
          <a:lstStyle/>
          <a:p>
            <a:pPr rtl="0"/>
            <a:r>
              <a:rPr lang="pt-BR"/>
              <a:t>Clique para editar o título Mestre</a:t>
            </a:r>
            <a:endParaRPr lang="en-US" dirty="0"/>
          </a:p>
        </p:txBody>
      </p:sp>
      <p:sp>
        <p:nvSpPr>
          <p:cNvPr id="3" name="Espaço Reservado para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p:cNvSpPr>
            <a:spLocks noGrp="1"/>
          </p:cNvSpPr>
          <p:nvPr>
            <p:ph type="dt" sz="half" idx="10"/>
          </p:nvPr>
        </p:nvSpPr>
        <p:spPr/>
        <p:txBody>
          <a:bodyPr rtlCol="0"/>
          <a:lstStyle/>
          <a:p>
            <a:pPr rtl="0"/>
            <a:fld id="{E7F35CA7-7D3B-4E55-AC53-9529C0CFE3EF}" type="datetime1">
              <a:rPr lang="pt-BR" smtClean="0"/>
              <a:t>07/06/2026</a:t>
            </a:fld>
            <a:endParaRPr lang="en-US" dirty="0"/>
          </a:p>
        </p:txBody>
      </p:sp>
      <p:sp>
        <p:nvSpPr>
          <p:cNvPr id="5" name="Espaço Reservado para Rodapé 4"/>
          <p:cNvSpPr>
            <a:spLocks noGrp="1"/>
          </p:cNvSpPr>
          <p:nvPr>
            <p:ph type="ftr" sz="quarter" idx="11"/>
          </p:nvPr>
        </p:nvSpPr>
        <p:spPr/>
        <p:txBody>
          <a:bodyPr rtlCol="0"/>
          <a:lstStyle/>
          <a:p>
            <a:pPr rtl="0"/>
            <a:endParaRPr lang="en-US" dirty="0"/>
          </a:p>
        </p:txBody>
      </p:sp>
      <p:sp>
        <p:nvSpPr>
          <p:cNvPr id="6" name="Espaço Reservado para o Número do Slide 5"/>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7" name="Retângu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pt-BR"/>
              <a:t>Clique para editar o título Mestre</a:t>
            </a:r>
            <a:endParaRPr lang="en-US" dirty="0"/>
          </a:p>
        </p:txBody>
      </p:sp>
      <p:sp>
        <p:nvSpPr>
          <p:cNvPr id="3" name="Espaço reservado para texto vertical 2"/>
          <p:cNvSpPr>
            <a:spLocks noGrp="1"/>
          </p:cNvSpPr>
          <p:nvPr>
            <p:ph type="body" orient="vert" idx="1"/>
          </p:nvPr>
        </p:nvSpPr>
        <p:spPr>
          <a:xfrm>
            <a:off x="774923" y="863600"/>
            <a:ext cx="7161625" cy="4807326"/>
          </a:xfrm>
        </p:spPr>
        <p:txBody>
          <a:bodyPr vert="eaVert" rtlCol="0" anchor="t"/>
          <a:lstStyle/>
          <a:p>
            <a:pPr lvl="0" rtl="0"/>
            <a:r>
              <a:rPr lang="pt-BR"/>
              <a:t>Clique para editar os estilos de texto Mestres</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8" name="Retângu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tângu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Espaço Reservado para Dat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7847CEE8-AA0B-431A-9FF7-33761A107460}" type="datetime1">
              <a:rPr lang="pt-BR" smtClean="0"/>
              <a:t>07/06/2026</a:t>
            </a:fld>
            <a:endParaRPr lang="en-US" dirty="0"/>
          </a:p>
        </p:txBody>
      </p:sp>
      <p:sp>
        <p:nvSpPr>
          <p:cNvPr id="12" name="Espaço Reservado para Rodapé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Espaço Reservado para o Número do Slide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pt-br"/>
              <a:t>Clique para editar o estilo de título Mestre</a:t>
            </a:r>
            <a:endParaRPr lang="en-US" dirty="0"/>
          </a:p>
        </p:txBody>
      </p:sp>
      <p:sp>
        <p:nvSpPr>
          <p:cNvPr id="3" name="Espaço reservado para tex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dirty="0"/>
          </a:p>
        </p:txBody>
      </p:sp>
      <p:sp>
        <p:nvSpPr>
          <p:cNvPr id="4" name="Espaço Reservado para Dat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A94EBBE9-24C9-4A60-8E3E-CB325E0328D9}" type="datetime1">
              <a:rPr lang="pt-BR" smtClean="0"/>
              <a:t>07/06/2026</a:t>
            </a:fld>
            <a:endParaRPr lang="en-US" dirty="0"/>
          </a:p>
        </p:txBody>
      </p:sp>
      <p:sp>
        <p:nvSpPr>
          <p:cNvPr id="5" name="Espaço Reservado para Rodapé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Espaço Reservado para o Número do Slide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‹nº›</a:t>
            </a:fld>
            <a:endParaRPr lang="en-US" dirty="0"/>
          </a:p>
        </p:txBody>
      </p:sp>
      <p:sp>
        <p:nvSpPr>
          <p:cNvPr id="9" name="Retângu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0" name="Retângu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1" name="Retângu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hd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8.png"/><Relationship Id="rId7" Type="http://schemas.openxmlformats.org/officeDocument/2006/relationships/diagramColors" Target="../diagrams/colors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
            <a:lum/>
          </a:blip>
          <a:srcRect/>
          <a:stretch>
            <a:fillRect/>
          </a:stretch>
        </a:blipFill>
        <a:effectLst/>
      </p:bgPr>
    </p:bg>
    <p:spTree>
      <p:nvGrpSpPr>
        <p:cNvPr id="1" name=""/>
        <p:cNvGrpSpPr/>
        <p:nvPr/>
      </p:nvGrpSpPr>
      <p:grpSpPr>
        <a:xfrm>
          <a:off x="0" y="0"/>
          <a:ext cx="0" cy="0"/>
          <a:chOff x="0" y="0"/>
          <a:chExt cx="0" cy="0"/>
        </a:xfrm>
      </p:grpSpPr>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a:t>
            </a:fld>
            <a:r>
              <a:rPr lang="en-US" dirty="0"/>
              <a:t> / 29</a:t>
            </a:r>
          </a:p>
        </p:txBody>
      </p:sp>
      <p:sp>
        <p:nvSpPr>
          <p:cNvPr id="9" name="Título 1">
            <a:extLst>
              <a:ext uri="{FF2B5EF4-FFF2-40B4-BE49-F238E27FC236}">
                <a16:creationId xmlns:a16="http://schemas.microsoft.com/office/drawing/2014/main" id="{7ED80F09-8096-489B-BF61-91840FD5F26D}"/>
              </a:ext>
            </a:extLst>
          </p:cNvPr>
          <p:cNvSpPr txBox="1">
            <a:spLocks/>
          </p:cNvSpPr>
          <p:nvPr/>
        </p:nvSpPr>
        <p:spPr>
          <a:xfrm>
            <a:off x="599225" y="2691493"/>
            <a:ext cx="9832801" cy="1475013"/>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b="1" dirty="0"/>
              <a:t>Previsão do Consumo Energético de Edifícios com Modelos de Aprendizado de Máquina: Um Estudo Comparativo com Engenharia de Recursos Expandida</a:t>
            </a:r>
            <a:endParaRPr lang="pt-BR" dirty="0"/>
          </a:p>
        </p:txBody>
      </p:sp>
      <p:sp>
        <p:nvSpPr>
          <p:cNvPr id="10" name="Subtítulo 2">
            <a:extLst>
              <a:ext uri="{FF2B5EF4-FFF2-40B4-BE49-F238E27FC236}">
                <a16:creationId xmlns:a16="http://schemas.microsoft.com/office/drawing/2014/main" id="{385A1994-5D53-491E-8F29-4F5B4D79FB36}"/>
              </a:ext>
            </a:extLst>
          </p:cNvPr>
          <p:cNvSpPr txBox="1">
            <a:spLocks/>
          </p:cNvSpPr>
          <p:nvPr/>
        </p:nvSpPr>
        <p:spPr>
          <a:xfrm>
            <a:off x="631999" y="4397076"/>
            <a:ext cx="10993546" cy="100992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600" cap="all" dirty="0">
                <a:solidFill>
                  <a:schemeClr val="accent1"/>
                </a:solidFill>
              </a:rPr>
              <a:t>Aluno: Evandro COELHO</a:t>
            </a:r>
          </a:p>
        </p:txBody>
      </p:sp>
      <p:sp>
        <p:nvSpPr>
          <p:cNvPr id="2" name="CaixaDeTexto 1">
            <a:extLst>
              <a:ext uri="{FF2B5EF4-FFF2-40B4-BE49-F238E27FC236}">
                <a16:creationId xmlns:a16="http://schemas.microsoft.com/office/drawing/2014/main" id="{623D6F6E-0739-4E34-B693-0FBBA81EAA15}"/>
              </a:ext>
            </a:extLst>
          </p:cNvPr>
          <p:cNvSpPr txBox="1"/>
          <p:nvPr/>
        </p:nvSpPr>
        <p:spPr>
          <a:xfrm>
            <a:off x="2599369" y="1520771"/>
            <a:ext cx="6993255" cy="1107996"/>
          </a:xfrm>
          <a:prstGeom prst="rect">
            <a:avLst/>
          </a:prstGeom>
          <a:noFill/>
        </p:spPr>
        <p:txBody>
          <a:bodyPr wrap="square" rtlCol="0">
            <a:spAutoFit/>
          </a:bodyPr>
          <a:lstStyle/>
          <a:p>
            <a:pPr algn="ctr"/>
            <a:r>
              <a:rPr lang="pt-BR" sz="2200" dirty="0">
                <a:solidFill>
                  <a:schemeClr val="tx1">
                    <a:lumMod val="75000"/>
                    <a:lumOff val="25000"/>
                  </a:schemeClr>
                </a:solidFill>
              </a:rPr>
              <a:t>Trabalho de Conclusão de Curso de Engenharia Elétrica</a:t>
            </a:r>
          </a:p>
          <a:p>
            <a:pPr algn="ctr"/>
            <a:r>
              <a:rPr lang="pt-BR" sz="2200" dirty="0">
                <a:solidFill>
                  <a:schemeClr val="tx1">
                    <a:lumMod val="75000"/>
                    <a:lumOff val="25000"/>
                  </a:schemeClr>
                </a:solidFill>
              </a:rPr>
              <a:t>Pós-graduação Lato Sensu em Ciência de Dados e Big Data</a:t>
            </a:r>
          </a:p>
        </p:txBody>
      </p:sp>
    </p:spTree>
    <p:extLst>
      <p:ext uri="{BB962C8B-B14F-4D97-AF65-F5344CB8AC3E}">
        <p14:creationId xmlns:p14="http://schemas.microsoft.com/office/powerpoint/2010/main" val="2332133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SUMÁRIO</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p:txBody>
          <a:bodyPr>
            <a:normAutofit fontScale="92500" lnSpcReduction="10000"/>
          </a:bodyPr>
          <a:lstStyle/>
          <a:p>
            <a:r>
              <a:rPr lang="pt-BR" sz="2600" dirty="0"/>
              <a:t>Introdução;</a:t>
            </a:r>
          </a:p>
          <a:p>
            <a:r>
              <a:rPr lang="pt-BR" sz="2600" dirty="0"/>
              <a:t>O Problema Proposto;</a:t>
            </a:r>
          </a:p>
          <a:p>
            <a:r>
              <a:rPr lang="pt-BR" sz="2600" dirty="0"/>
              <a:t>Objetivos;</a:t>
            </a:r>
          </a:p>
          <a:p>
            <a:r>
              <a:rPr lang="pt-BR" sz="2600" dirty="0"/>
              <a:t>Coleta de Dados;</a:t>
            </a:r>
          </a:p>
          <a:p>
            <a:r>
              <a:rPr lang="pt-BR" sz="2600" dirty="0"/>
              <a:t>Processamento de Dados;</a:t>
            </a:r>
          </a:p>
          <a:p>
            <a:r>
              <a:rPr lang="pt-BR" sz="2600" dirty="0"/>
              <a:t>Modelos;</a:t>
            </a:r>
          </a:p>
          <a:p>
            <a:r>
              <a:rPr lang="pt-BR" sz="2600" dirty="0"/>
              <a:t>Resultados.</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a:t>
            </a:fld>
            <a:r>
              <a:rPr lang="en-US" dirty="0"/>
              <a:t> / 29</a:t>
            </a:r>
          </a:p>
        </p:txBody>
      </p:sp>
      <p:sp>
        <p:nvSpPr>
          <p:cNvPr id="4" name="Espaço Reservado para Rodapé 3">
            <a:extLst>
              <a:ext uri="{FF2B5EF4-FFF2-40B4-BE49-F238E27FC236}">
                <a16:creationId xmlns:a16="http://schemas.microsoft.com/office/drawing/2014/main" id="{C556F221-032C-439E-A5D2-D7AAA67DCF9F}"/>
              </a:ext>
            </a:extLst>
          </p:cNvPr>
          <p:cNvSpPr>
            <a:spLocks noGrp="1"/>
          </p:cNvSpPr>
          <p:nvPr>
            <p:ph type="ftr" sz="quarter" idx="11"/>
          </p:nvPr>
        </p:nvSpPr>
        <p:spPr/>
        <p:txBody>
          <a:bodyPr/>
          <a:lstStyle/>
          <a:p>
            <a:r>
              <a:rPr lang="en-US" dirty="0"/>
              <a:t>SUMÁRIO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72016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p:txBody>
          <a:bodyPr>
            <a:normAutofit/>
          </a:bodyPr>
          <a:lstStyle/>
          <a:p>
            <a:pPr algn="just"/>
            <a:r>
              <a:rPr lang="pt-BR" sz="2200" dirty="0"/>
              <a:t>No âmbito do consumo energético em prédios públicos, existe a necessidade do registro estruturado dos gastos de energia para controle interno;</a:t>
            </a:r>
          </a:p>
          <a:p>
            <a:pPr algn="just"/>
            <a:r>
              <a:rPr lang="pt-BR" sz="2200" dirty="0"/>
              <a:t>A previsão de curto prazo auxilia na gestão das faturas e no devido ateste do serviço prestado;</a:t>
            </a:r>
          </a:p>
          <a:p>
            <a:pPr algn="just"/>
            <a:r>
              <a:rPr lang="pt-BR" sz="2200" dirty="0"/>
              <a:t>Essa pesquisa se propõe realizar um </a:t>
            </a:r>
            <a:r>
              <a:rPr lang="pt-BR" sz="2200" b="1" dirty="0"/>
              <a:t>evolução</a:t>
            </a:r>
            <a:r>
              <a:rPr lang="pt-BR" sz="2200" dirty="0"/>
              <a:t> do estudo de previsão de dados de energia no setor público (COELHO, 2021).</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3</a:t>
            </a:fld>
            <a:r>
              <a:rPr lang="en-US" dirty="0"/>
              <a:t> / 29</a:t>
            </a:r>
          </a:p>
        </p:txBody>
      </p:sp>
      <p:sp>
        <p:nvSpPr>
          <p:cNvPr id="4" name="Espaço Reservado para Rodapé 3">
            <a:extLst>
              <a:ext uri="{FF2B5EF4-FFF2-40B4-BE49-F238E27FC236}">
                <a16:creationId xmlns:a16="http://schemas.microsoft.com/office/drawing/2014/main" id="{FDC5B300-E2FE-4CC8-9BCE-1D49A324CB38}"/>
              </a:ext>
            </a:extLst>
          </p:cNvPr>
          <p:cNvSpPr>
            <a:spLocks noGrp="1"/>
          </p:cNvSpPr>
          <p:nvPr>
            <p:ph type="ftr" sz="quarter" idx="11"/>
          </p:nvPr>
        </p:nvSpPr>
        <p:spPr/>
        <p:txBody>
          <a:bodyPr/>
          <a:lstStyle/>
          <a:p>
            <a:r>
              <a:rPr lang="en-US" dirty="0"/>
              <a:t>INTRODUÇÃO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625026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OBJETIVOS</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3" y="2340864"/>
            <a:ext cx="7278951" cy="3814980"/>
          </a:xfrm>
        </p:spPr>
        <p:txBody>
          <a:bodyPr>
            <a:normAutofit fontScale="70000" lnSpcReduction="20000"/>
          </a:bodyPr>
          <a:lstStyle/>
          <a:p>
            <a:pPr marL="0" indent="0">
              <a:buNone/>
            </a:pPr>
            <a:r>
              <a:rPr lang="pt-BR" sz="2400" b="1" dirty="0"/>
              <a:t>Objetivo geral</a:t>
            </a:r>
            <a:r>
              <a:rPr lang="pt-BR" sz="2400" dirty="0"/>
              <a:t> Desenvolver e comparar modelos de aprendizado de máquina para previsão de curto prazo do consumo energético de edifícios, com ênfase na contribuição da </a:t>
            </a:r>
            <a:r>
              <a:rPr lang="pt-BR" sz="2400" b="1" dirty="0"/>
              <a:t>engenharia de recursos</a:t>
            </a:r>
            <a:endParaRPr lang="pt-BR" sz="2400" dirty="0"/>
          </a:p>
          <a:p>
            <a:pPr marL="0" indent="0">
              <a:buNone/>
            </a:pPr>
            <a:r>
              <a:rPr lang="pt-BR" sz="2400" b="1" dirty="0"/>
              <a:t>Objetivos específicos</a:t>
            </a:r>
            <a:endParaRPr lang="pt-BR" sz="2400" dirty="0"/>
          </a:p>
          <a:p>
            <a:r>
              <a:rPr lang="pt-BR" sz="2400" dirty="0"/>
              <a:t>Realizar análise exploratória e identificar padrões temporais</a:t>
            </a:r>
          </a:p>
          <a:p>
            <a:r>
              <a:rPr lang="pt-BR" sz="2400" dirty="0"/>
              <a:t>Construir conjunto expandido de </a:t>
            </a:r>
            <a:r>
              <a:rPr lang="pt-BR" sz="2400" b="1" dirty="0"/>
              <a:t>20 recursos preditores</a:t>
            </a:r>
            <a:endParaRPr lang="pt-BR" sz="2400" dirty="0"/>
          </a:p>
          <a:p>
            <a:r>
              <a:rPr lang="pt-BR" sz="2400" dirty="0"/>
              <a:t>Implementar modelos de referência: MMS, MME, Regressão Linear e SARIMA</a:t>
            </a:r>
          </a:p>
          <a:p>
            <a:r>
              <a:rPr lang="pt-BR" sz="2400" dirty="0"/>
              <a:t>Implementar modelos avançados: MLP, Random Forest, </a:t>
            </a:r>
            <a:r>
              <a:rPr lang="pt-BR" sz="2400" dirty="0" err="1"/>
              <a:t>XGBoost</a:t>
            </a:r>
            <a:r>
              <a:rPr lang="pt-BR" sz="2400" dirty="0"/>
              <a:t> e LSTM</a:t>
            </a:r>
          </a:p>
          <a:p>
            <a:r>
              <a:rPr lang="pt-BR" sz="2400" dirty="0"/>
              <a:t>Comparar todos os modelos por MAE, RMSE, R² e MAPE</a:t>
            </a:r>
          </a:p>
          <a:p>
            <a:r>
              <a:rPr lang="pt-BR" sz="2400" dirty="0"/>
              <a:t>Analisar importância de variáveis nos modelos baseados em árvore</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4</a:t>
            </a:fld>
            <a:r>
              <a:rPr lang="en-US" dirty="0"/>
              <a:t> / 29</a:t>
            </a:r>
          </a:p>
        </p:txBody>
      </p:sp>
      <p:sp>
        <p:nvSpPr>
          <p:cNvPr id="4" name="Espaço Reservado para Rodapé 3">
            <a:extLst>
              <a:ext uri="{FF2B5EF4-FFF2-40B4-BE49-F238E27FC236}">
                <a16:creationId xmlns:a16="http://schemas.microsoft.com/office/drawing/2014/main" id="{5B3CEA00-7A58-479A-9B5F-951F0597C4C9}"/>
              </a:ext>
            </a:extLst>
          </p:cNvPr>
          <p:cNvSpPr>
            <a:spLocks noGrp="1"/>
          </p:cNvSpPr>
          <p:nvPr>
            <p:ph type="ftr" sz="quarter" idx="11"/>
          </p:nvPr>
        </p:nvSpPr>
        <p:spPr/>
        <p:txBody>
          <a:bodyPr/>
          <a:lstStyle/>
          <a:p>
            <a:r>
              <a:rPr lang="en-US" dirty="0" err="1"/>
              <a:t>Referencial</a:t>
            </a:r>
            <a:r>
              <a:rPr lang="en-US" dirty="0"/>
              <a:t> </a:t>
            </a:r>
            <a:r>
              <a:rPr lang="en-US" dirty="0" err="1"/>
              <a:t>teórico</a:t>
            </a:r>
            <a:r>
              <a:rPr lang="en-US" dirty="0"/>
              <a:t>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pic>
        <p:nvPicPr>
          <p:cNvPr id="10" name="Imagem 9">
            <a:extLst>
              <a:ext uri="{FF2B5EF4-FFF2-40B4-BE49-F238E27FC236}">
                <a16:creationId xmlns:a16="http://schemas.microsoft.com/office/drawing/2014/main" id="{82B3783B-0A66-40A2-A4A3-BFC19B8845D5}"/>
              </a:ext>
            </a:extLst>
          </p:cNvPr>
          <p:cNvPicPr>
            <a:picLocks noChangeAspect="1"/>
          </p:cNvPicPr>
          <p:nvPr/>
        </p:nvPicPr>
        <p:blipFill rotWithShape="1">
          <a:blip r:embed="rId2"/>
          <a:srcRect l="15793" r="14388"/>
          <a:stretch/>
        </p:blipFill>
        <p:spPr>
          <a:xfrm>
            <a:off x="8201063" y="2700762"/>
            <a:ext cx="3409743" cy="2913266"/>
          </a:xfrm>
          <a:prstGeom prst="rect">
            <a:avLst/>
          </a:prstGeom>
        </p:spPr>
      </p:pic>
    </p:spTree>
    <p:extLst>
      <p:ext uri="{BB962C8B-B14F-4D97-AF65-F5344CB8AC3E}">
        <p14:creationId xmlns:p14="http://schemas.microsoft.com/office/powerpoint/2010/main" val="2543167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Problema proposto: Consumo energético</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p:txBody>
          <a:bodyPr>
            <a:normAutofit/>
          </a:bodyPr>
          <a:lstStyle/>
          <a:p>
            <a:r>
              <a:rPr lang="pt-BR" sz="2400" dirty="0"/>
              <a:t>Em que medida a expansão dos recursos preditores e a adoção de múltiplos algoritmos melhoram a previsão do consumo energético, em relação à abordagem anterior?</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5</a:t>
            </a:fld>
            <a:r>
              <a:rPr lang="en-US" dirty="0"/>
              <a:t> / 29</a:t>
            </a:r>
          </a:p>
        </p:txBody>
      </p:sp>
      <p:sp>
        <p:nvSpPr>
          <p:cNvPr id="4" name="Espaço Reservado para Rodapé 3">
            <a:extLst>
              <a:ext uri="{FF2B5EF4-FFF2-40B4-BE49-F238E27FC236}">
                <a16:creationId xmlns:a16="http://schemas.microsoft.com/office/drawing/2014/main" id="{DFF8F544-E1AE-4F8D-8A62-595BE19C9792}"/>
              </a:ext>
            </a:extLst>
          </p:cNvPr>
          <p:cNvSpPr>
            <a:spLocks noGrp="1"/>
          </p:cNvSpPr>
          <p:nvPr>
            <p:ph type="ftr" sz="quarter" idx="11"/>
          </p:nvPr>
        </p:nvSpPr>
        <p:spPr/>
        <p:txBody>
          <a:bodyPr/>
          <a:lstStyle/>
          <a:p>
            <a:pPr rtl="0"/>
            <a:r>
              <a:rPr lang="en-US" dirty="0" err="1"/>
              <a:t>Referencial</a:t>
            </a:r>
            <a:r>
              <a:rPr lang="en-US" dirty="0"/>
              <a:t> </a:t>
            </a:r>
            <a:r>
              <a:rPr lang="en-US" dirty="0" err="1"/>
              <a:t>teórico</a:t>
            </a:r>
            <a:r>
              <a:rPr lang="en-US" dirty="0"/>
              <a:t>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202643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Previsão de dados</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3" y="2340864"/>
                <a:ext cx="11276316" cy="3634486"/>
              </a:xfrm>
            </p:spPr>
            <p:txBody>
              <a:bodyPr>
                <a:normAutofit/>
              </a:bodyPr>
              <a:lstStyle/>
              <a:p>
                <a:pPr algn="just"/>
                <a:r>
                  <a:rPr lang="pt-BR" sz="2400" dirty="0"/>
                  <a:t>Modelos já empregados para Previsão de Energia em Prédios: </a:t>
                </a:r>
              </a:p>
              <a:p>
                <a:pPr lvl="1" algn="just"/>
                <a:r>
                  <a:rPr lang="pt-BR" sz="1600" dirty="0"/>
                  <a:t>Redes Neurais Artificias (ANN), Máquina de Vetores de Suporte (SVM), Regressões Estatísticas e Clusters (Wei et al, 2017);</a:t>
                </a:r>
              </a:p>
              <a:p>
                <a:pPr algn="just"/>
                <a:r>
                  <a:rPr lang="pt-BR" sz="2400" dirty="0"/>
                  <a:t>Modelo neural empregado para modelagem da curva de energia.</a:t>
                </a:r>
              </a:p>
              <a:p>
                <a:pPr lvl="1" algn="just"/>
                <a:r>
                  <a:rPr lang="pt-BR" sz="1600" dirty="0"/>
                  <a:t>Recursos de entrada:  Dados históricos de energia, com temperatura, radiação solar e população</a:t>
                </a:r>
              </a:p>
              <a:p>
                <a:pPr lvl="1" algn="just"/>
                <a14:m>
                  <m:oMath xmlns:m="http://schemas.openxmlformats.org/officeDocument/2006/math">
                    <m:sSup>
                      <m:sSupPr>
                        <m:ctrlPr>
                          <a:rPr lang="pt-BR" sz="1600" i="1">
                            <a:latin typeface="Cambria Math" panose="02040503050406030204" pitchFamily="18" charset="0"/>
                          </a:rPr>
                        </m:ctrlPr>
                      </m:sSupPr>
                      <m:e>
                        <m:r>
                          <a:rPr lang="pt-BR" sz="1600">
                            <a:latin typeface="Cambria Math" panose="02040503050406030204" pitchFamily="18" charset="0"/>
                          </a:rPr>
                          <m:t>𝑅</m:t>
                        </m:r>
                      </m:e>
                      <m:sup>
                        <m:r>
                          <a:rPr lang="pt-BR" sz="1600">
                            <a:latin typeface="Cambria Math" panose="02040503050406030204" pitchFamily="18" charset="0"/>
                          </a:rPr>
                          <m:t>2</m:t>
                        </m:r>
                      </m:sup>
                    </m:sSup>
                    <m:r>
                      <a:rPr lang="pt-BR" sz="1600">
                        <a:latin typeface="Cambria Math" panose="02040503050406030204" pitchFamily="18" charset="0"/>
                      </a:rPr>
                      <m:t>=0,81</m:t>
                    </m:r>
                  </m:oMath>
                </a14:m>
                <a:r>
                  <a:rPr lang="pt-BR" sz="1600" dirty="0"/>
                  <a:t> (Deb et al, 2017).</a:t>
                </a:r>
              </a:p>
              <a:p>
                <a:pPr lvl="1" algn="just"/>
                <a:r>
                  <a:rPr lang="pt-BR" sz="1600" dirty="0"/>
                  <a:t>Lacuna identificada</a:t>
                </a:r>
              </a:p>
              <a:p>
                <a:endParaRPr lang="pt-BR" dirty="0"/>
              </a:p>
            </p:txBody>
          </p:sp>
        </mc:Choice>
        <mc:Fallback>
          <p:sp>
            <p:nvSpPr>
              <p:cNvPr id="3" name="Espaço Reservado para Conteúdo 2">
                <a:extLst>
                  <a:ext uri="{FF2B5EF4-FFF2-40B4-BE49-F238E27FC236}">
                    <a16:creationId xmlns:a16="http://schemas.microsoft.com/office/drawing/2014/main" id="{E1647ED6-C6B8-46F3-976C-6B7EECBA62C5}"/>
                  </a:ext>
                </a:extLst>
              </p:cNvPr>
              <p:cNvSpPr>
                <a:spLocks noGrp="1" noRot="1" noChangeAspect="1" noMove="1" noResize="1" noEditPoints="1" noAdjustHandles="1" noChangeArrowheads="1" noChangeShapeType="1" noTextEdit="1"/>
              </p:cNvSpPr>
              <p:nvPr>
                <p:ph idx="1"/>
              </p:nvPr>
            </p:nvSpPr>
            <p:spPr>
              <a:xfrm>
                <a:off x="581193" y="2340864"/>
                <a:ext cx="11276316" cy="3634486"/>
              </a:xfrm>
              <a:blipFill>
                <a:blip r:embed="rId2"/>
                <a:stretch>
                  <a:fillRect l="-450" r="-337"/>
                </a:stretch>
              </a:blipFill>
            </p:spPr>
            <p:txBody>
              <a:bodyPr/>
              <a:lstStyle/>
              <a:p>
                <a:r>
                  <a:rPr lang="pt-BR">
                    <a:noFill/>
                  </a:rPr>
                  <a:t> </a:t>
                </a:r>
              </a:p>
            </p:txBody>
          </p:sp>
        </mc:Fallback>
      </mc:AlternateContent>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6</a:t>
            </a:fld>
            <a:r>
              <a:rPr lang="en-US" dirty="0"/>
              <a:t> / 29</a:t>
            </a:r>
          </a:p>
        </p:txBody>
      </p:sp>
      <p:sp>
        <p:nvSpPr>
          <p:cNvPr id="4" name="Espaço Reservado para Rodapé 3">
            <a:extLst>
              <a:ext uri="{FF2B5EF4-FFF2-40B4-BE49-F238E27FC236}">
                <a16:creationId xmlns:a16="http://schemas.microsoft.com/office/drawing/2014/main" id="{98ADD59D-66D0-425F-9F99-B2F7E635774E}"/>
              </a:ext>
            </a:extLst>
          </p:cNvPr>
          <p:cNvSpPr>
            <a:spLocks noGrp="1"/>
          </p:cNvSpPr>
          <p:nvPr>
            <p:ph type="ftr" sz="quarter" idx="11"/>
          </p:nvPr>
        </p:nvSpPr>
        <p:spPr/>
        <p:txBody>
          <a:bodyPr/>
          <a:lstStyle/>
          <a:p>
            <a:r>
              <a:rPr lang="en-US" dirty="0" err="1"/>
              <a:t>Referencial</a:t>
            </a:r>
            <a:r>
              <a:rPr lang="en-US" dirty="0"/>
              <a:t> </a:t>
            </a:r>
            <a:r>
              <a:rPr lang="en-US" dirty="0" err="1"/>
              <a:t>teórico</a:t>
            </a:r>
            <a:r>
              <a:rPr lang="en-US" dirty="0"/>
              <a:t>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2278693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Redes neurais artificiais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7183055" y="4420993"/>
                <a:ext cx="4230952" cy="1188721"/>
              </a:xfrm>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pt-BR" sz="1800" i="1" smtClean="0">
                              <a:effectLst/>
                              <a:latin typeface="Cambria Math" panose="02040503050406030204" pitchFamily="18" charset="0"/>
                              <a:ea typeface="Times New Roman" panose="02020603050405020304" pitchFamily="18" charset="0"/>
                            </a:rPr>
                          </m:ctrlPr>
                        </m:sSubPr>
                        <m:e>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pt-BR" sz="1800" i="1">
                              <a:effectLst/>
                              <a:latin typeface="Cambria Math" panose="02040503050406030204" pitchFamily="18" charset="0"/>
                              <a:ea typeface="Times New Roman" panose="02020603050405020304" pitchFamily="18" charset="0"/>
                            </a:rPr>
                          </m:ctrlPr>
                        </m:naryPr>
                        <m: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pt-BR" sz="1800" i="1">
                                  <a:effectLst/>
                                  <a:latin typeface="Cambria Math" panose="02040503050406030204" pitchFamily="18" charset="0"/>
                                </a:rPr>
                              </m:ctrlPr>
                            </m:sSubPr>
                            <m:e>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𝑤</m:t>
                              </m:r>
                            </m:e>
                            <m: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sSub>
                            <m:sSubPr>
                              <m:ctrlPr>
                                <a:rPr lang="pt-BR" sz="1800" i="1">
                                  <a:effectLst/>
                                  <a:latin typeface="Cambria Math" panose="02040503050406030204" pitchFamily="18" charset="0"/>
                                </a:rPr>
                              </m:ctrlPr>
                            </m:sSubPr>
                            <m:e>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t-BR" sz="1800" i="1">
                                  <a:effectLst/>
                                  <a:latin typeface="Cambria Math" panose="02040503050406030204" pitchFamily="18" charset="0"/>
                                </a:rPr>
                              </m:ctrlPr>
                            </m:sSubPr>
                            <m:e>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pt-BR"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oMath>
                  </m:oMathPara>
                </a14:m>
                <a:endParaRPr lang="pt-BR" sz="1800" dirty="0">
                  <a:effectLst/>
                  <a:ea typeface="Times New Roman" panose="02020603050405020304" pitchFamily="18" charset="0"/>
                  <a:cs typeface="Times New Roman" panose="02020603050405020304" pitchFamily="18" charset="0"/>
                </a:endParaRPr>
              </a:p>
              <a:p>
                <a:pPr marL="0" indent="0" algn="ctr">
                  <a:buNone/>
                </a:pPr>
                <a:r>
                  <a:rPr lang="pt-BR" dirty="0"/>
                  <a:t>Sumarização de um neurônio</a:t>
                </a:r>
              </a:p>
            </p:txBody>
          </p:sp>
        </mc:Choice>
        <mc:Fallback xmlns="">
          <p:sp>
            <p:nvSpPr>
              <p:cNvPr id="3" name="Espaço Reservado para Conteúdo 2">
                <a:extLst>
                  <a:ext uri="{FF2B5EF4-FFF2-40B4-BE49-F238E27FC236}">
                    <a16:creationId xmlns:a16="http://schemas.microsoft.com/office/drawing/2014/main" id="{E1647ED6-C6B8-46F3-976C-6B7EECBA62C5}"/>
                  </a:ext>
                </a:extLst>
              </p:cNvPr>
              <p:cNvSpPr>
                <a:spLocks noGrp="1" noRot="1" noChangeAspect="1" noMove="1" noResize="1" noEditPoints="1" noAdjustHandles="1" noChangeArrowheads="1" noChangeShapeType="1" noTextEdit="1"/>
              </p:cNvSpPr>
              <p:nvPr>
                <p:ph idx="1"/>
              </p:nvPr>
            </p:nvSpPr>
            <p:spPr>
              <a:xfrm>
                <a:off x="7183055" y="4420993"/>
                <a:ext cx="4230952" cy="1188721"/>
              </a:xfrm>
              <a:blipFill>
                <a:blip r:embed="rId2"/>
                <a:stretch>
                  <a:fillRect b="-1538"/>
                </a:stretch>
              </a:blipFill>
            </p:spPr>
            <p:txBody>
              <a:bodyPr/>
              <a:lstStyle/>
              <a:p>
                <a:r>
                  <a:rPr lang="pt-BR">
                    <a:noFill/>
                  </a:rPr>
                  <a:t> </a:t>
                </a:r>
              </a:p>
            </p:txBody>
          </p:sp>
        </mc:Fallback>
      </mc:AlternateContent>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7</a:t>
            </a:fld>
            <a:r>
              <a:rPr lang="en-US" dirty="0"/>
              <a:t> / 29</a:t>
            </a:r>
          </a:p>
        </p:txBody>
      </p:sp>
      <p:pic>
        <p:nvPicPr>
          <p:cNvPr id="8" name="Imagem 7">
            <a:extLst>
              <a:ext uri="{FF2B5EF4-FFF2-40B4-BE49-F238E27FC236}">
                <a16:creationId xmlns:a16="http://schemas.microsoft.com/office/drawing/2014/main" id="{C1D3AA9B-19DB-466A-A332-9E1CA248DB18}"/>
              </a:ext>
            </a:extLst>
          </p:cNvPr>
          <p:cNvPicPr/>
          <p:nvPr/>
        </p:nvPicPr>
        <p:blipFill>
          <a:blip r:embed="rId3"/>
          <a:stretch>
            <a:fillRect/>
          </a:stretch>
        </p:blipFill>
        <p:spPr>
          <a:xfrm>
            <a:off x="6337835" y="2317146"/>
            <a:ext cx="5679372" cy="2103847"/>
          </a:xfrm>
          <a:prstGeom prst="rect">
            <a:avLst/>
          </a:prstGeom>
        </p:spPr>
      </p:pic>
      <p:sp>
        <p:nvSpPr>
          <p:cNvPr id="9" name="Espaço Reservado para Conteúdo 2">
            <a:extLst>
              <a:ext uri="{FF2B5EF4-FFF2-40B4-BE49-F238E27FC236}">
                <a16:creationId xmlns:a16="http://schemas.microsoft.com/office/drawing/2014/main" id="{1508CC5D-65C3-441C-BC7C-A80C312F8865}"/>
              </a:ext>
            </a:extLst>
          </p:cNvPr>
          <p:cNvSpPr txBox="1">
            <a:spLocks/>
          </p:cNvSpPr>
          <p:nvPr/>
        </p:nvSpPr>
        <p:spPr>
          <a:xfrm>
            <a:off x="581193" y="2340864"/>
            <a:ext cx="5514808" cy="3634486"/>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pt-BR" sz="1800" dirty="0"/>
              <a:t>São estruturadas inspiradas na arquitetura do cérebro humano;</a:t>
            </a:r>
          </a:p>
          <a:p>
            <a:pPr algn="just"/>
            <a:r>
              <a:rPr lang="pt-BR" sz="1800" dirty="0"/>
              <a:t>A rede consiste num grande número de unidades de processamentos (neurônios) organizadas em camadas (Wei </a:t>
            </a:r>
            <a:r>
              <a:rPr lang="pt-BR" sz="1800" i="1" dirty="0"/>
              <a:t>et al</a:t>
            </a:r>
            <a:r>
              <a:rPr lang="pt-BR" sz="1800" dirty="0"/>
              <a:t>, 2017).</a:t>
            </a:r>
          </a:p>
          <a:p>
            <a:pPr algn="just"/>
            <a:r>
              <a:rPr lang="pt-BR" sz="1800" dirty="0"/>
              <a:t>Uma camada se conecta a outra através das conexões entre neurônios;</a:t>
            </a:r>
          </a:p>
          <a:p>
            <a:pPr algn="just"/>
            <a:r>
              <a:rPr lang="pt-BR" sz="1800" dirty="0"/>
              <a:t>Necessidade de treinar a rede (ajuste dos pesos).</a:t>
            </a:r>
          </a:p>
          <a:p>
            <a:endParaRPr lang="pt-BR" dirty="0"/>
          </a:p>
        </p:txBody>
      </p:sp>
      <p:sp>
        <p:nvSpPr>
          <p:cNvPr id="4" name="Espaço Reservado para Rodapé 3">
            <a:extLst>
              <a:ext uri="{FF2B5EF4-FFF2-40B4-BE49-F238E27FC236}">
                <a16:creationId xmlns:a16="http://schemas.microsoft.com/office/drawing/2014/main" id="{3E844E08-65E4-431E-97E5-E88823C7DA09}"/>
              </a:ext>
            </a:extLst>
          </p:cNvPr>
          <p:cNvSpPr>
            <a:spLocks noGrp="1"/>
          </p:cNvSpPr>
          <p:nvPr>
            <p:ph type="ftr" sz="quarter" idx="11"/>
          </p:nvPr>
        </p:nvSpPr>
        <p:spPr/>
        <p:txBody>
          <a:bodyPr/>
          <a:lstStyle/>
          <a:p>
            <a:r>
              <a:rPr lang="en-US" dirty="0" err="1"/>
              <a:t>Referencial</a:t>
            </a:r>
            <a:r>
              <a:rPr lang="en-US" dirty="0"/>
              <a:t> </a:t>
            </a:r>
            <a:r>
              <a:rPr lang="en-US" dirty="0" err="1"/>
              <a:t>teórico</a:t>
            </a:r>
            <a:r>
              <a:rPr lang="en-US" dirty="0"/>
              <a:t>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1344456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2" y="2340864"/>
            <a:ext cx="5764189" cy="3634486"/>
          </a:xfrm>
        </p:spPr>
        <p:txBody>
          <a:bodyPr>
            <a:normAutofit/>
          </a:bodyPr>
          <a:lstStyle/>
          <a:p>
            <a:pPr algn="just"/>
            <a:r>
              <a:rPr lang="pt-BR" sz="1800" dirty="0"/>
              <a:t>Rede </a:t>
            </a:r>
            <a:r>
              <a:rPr lang="pt-BR" sz="1800" i="1" dirty="0" err="1"/>
              <a:t>Multilayer</a:t>
            </a:r>
            <a:r>
              <a:rPr lang="pt-BR" sz="1800" i="1" dirty="0"/>
              <a:t> </a:t>
            </a:r>
            <a:r>
              <a:rPr lang="pt-BR" sz="1800" i="1" dirty="0" err="1"/>
              <a:t>Perceptron</a:t>
            </a:r>
            <a:r>
              <a:rPr lang="pt-BR" sz="1800" i="1" dirty="0"/>
              <a:t> </a:t>
            </a:r>
            <a:r>
              <a:rPr lang="pt-BR" sz="1800" dirty="0"/>
              <a:t>(MLP) para o problema de regressão;</a:t>
            </a:r>
          </a:p>
          <a:p>
            <a:pPr algn="just"/>
            <a:r>
              <a:rPr lang="pt-BR" sz="1800" dirty="0"/>
              <a:t>Aplicação em problemas de previsão de séries temporais (Silva, 2017);</a:t>
            </a:r>
          </a:p>
          <a:p>
            <a:pPr algn="just"/>
            <a:r>
              <a:rPr lang="pt-BR" sz="1800" dirty="0"/>
              <a:t>Classificação:</a:t>
            </a:r>
            <a:r>
              <a:rPr lang="pt-BR" sz="1800" i="1" dirty="0"/>
              <a:t> </a:t>
            </a:r>
            <a:r>
              <a:rPr lang="pt-BR" sz="1800" i="1" dirty="0" err="1"/>
              <a:t>feedforward</a:t>
            </a:r>
            <a:r>
              <a:rPr lang="pt-BR" sz="1800" i="1" dirty="0"/>
              <a:t> </a:t>
            </a:r>
            <a:r>
              <a:rPr lang="pt-BR" sz="1800" dirty="0"/>
              <a:t>e aprendizagem supervisionada;</a:t>
            </a:r>
          </a:p>
          <a:p>
            <a:pPr algn="just"/>
            <a:r>
              <a:rPr lang="pt-BR" sz="1800" dirty="0"/>
              <a:t>Algoritmo de aprendizagem: </a:t>
            </a:r>
            <a:r>
              <a:rPr lang="pt-BR" sz="1800" i="1" dirty="0" err="1"/>
              <a:t>backpropagation</a:t>
            </a:r>
            <a:r>
              <a:rPr lang="pt-BR" sz="1800" i="1" dirty="0"/>
              <a:t>.</a:t>
            </a:r>
          </a:p>
          <a:p>
            <a:pPr lvl="1" algn="just"/>
            <a:r>
              <a:rPr lang="pt-BR" sz="1600" dirty="0"/>
              <a:t>Busca minimizar a função de erro para se ajustar a curva dos dados.</a:t>
            </a:r>
          </a:p>
          <a:p>
            <a:endParaRPr lang="pt-BR" dirty="0"/>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8</a:t>
            </a:fld>
            <a:r>
              <a:rPr lang="en-US" dirty="0"/>
              <a:t> / 29</a:t>
            </a:r>
          </a:p>
        </p:txBody>
      </p:sp>
      <p:pic>
        <p:nvPicPr>
          <p:cNvPr id="8" name="Imagem 7">
            <a:extLst>
              <a:ext uri="{FF2B5EF4-FFF2-40B4-BE49-F238E27FC236}">
                <a16:creationId xmlns:a16="http://schemas.microsoft.com/office/drawing/2014/main" id="{E3E5E48C-4012-4A7E-A19D-5C70C51397A4}"/>
              </a:ext>
            </a:extLst>
          </p:cNvPr>
          <p:cNvPicPr/>
          <p:nvPr/>
        </p:nvPicPr>
        <p:blipFill>
          <a:blip r:embed="rId2"/>
          <a:stretch>
            <a:fillRect/>
          </a:stretch>
        </p:blipFill>
        <p:spPr>
          <a:xfrm>
            <a:off x="6731172" y="2340864"/>
            <a:ext cx="4879635" cy="2958215"/>
          </a:xfrm>
          <a:prstGeom prst="rect">
            <a:avLst/>
          </a:prstGeom>
        </p:spPr>
      </p:pic>
      <p:sp>
        <p:nvSpPr>
          <p:cNvPr id="4" name="Espaço Reservado para Rodapé 3">
            <a:extLst>
              <a:ext uri="{FF2B5EF4-FFF2-40B4-BE49-F238E27FC236}">
                <a16:creationId xmlns:a16="http://schemas.microsoft.com/office/drawing/2014/main" id="{F8A76535-B640-49E4-BC10-54DF7D0C525A}"/>
              </a:ext>
            </a:extLst>
          </p:cNvPr>
          <p:cNvSpPr>
            <a:spLocks noGrp="1"/>
          </p:cNvSpPr>
          <p:nvPr>
            <p:ph type="ftr" sz="quarter" idx="11"/>
          </p:nvPr>
        </p:nvSpPr>
        <p:spPr/>
        <p:txBody>
          <a:bodyPr/>
          <a:lstStyle/>
          <a:p>
            <a:r>
              <a:rPr lang="en-US" dirty="0" err="1"/>
              <a:t>Referencial</a:t>
            </a:r>
            <a:r>
              <a:rPr lang="en-US" dirty="0"/>
              <a:t> </a:t>
            </a:r>
            <a:r>
              <a:rPr lang="en-US" dirty="0" err="1"/>
              <a:t>teórico</a:t>
            </a:r>
            <a:r>
              <a:rPr lang="en-US" dirty="0"/>
              <a:t>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1431518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3D015B-8DFC-4502-9DAB-77D1D74CB5F4}"/>
              </a:ext>
            </a:extLst>
          </p:cNvPr>
          <p:cNvSpPr>
            <a:spLocks noGrp="1"/>
          </p:cNvSpPr>
          <p:nvPr>
            <p:ph type="title"/>
          </p:nvPr>
        </p:nvSpPr>
        <p:spPr>
          <a:xfrm>
            <a:off x="581192" y="702156"/>
            <a:ext cx="11029616" cy="5273194"/>
          </a:xfrm>
        </p:spPr>
        <p:txBody>
          <a:bodyPr>
            <a:normAutofit/>
          </a:bodyPr>
          <a:lstStyle/>
          <a:p>
            <a:r>
              <a:rPr lang="pt-BR" sz="6000" dirty="0"/>
              <a:t>previsão</a:t>
            </a:r>
          </a:p>
        </p:txBody>
      </p:sp>
      <p:sp>
        <p:nvSpPr>
          <p:cNvPr id="4" name="Espaço Reservado para Número de Slide 3">
            <a:extLst>
              <a:ext uri="{FF2B5EF4-FFF2-40B4-BE49-F238E27FC236}">
                <a16:creationId xmlns:a16="http://schemas.microsoft.com/office/drawing/2014/main" id="{C8EB25D8-0628-4488-B514-DF8C2B1BC376}"/>
              </a:ext>
            </a:extLst>
          </p:cNvPr>
          <p:cNvSpPr>
            <a:spLocks noGrp="1"/>
          </p:cNvSpPr>
          <p:nvPr>
            <p:ph type="sldNum" sz="quarter" idx="12"/>
          </p:nvPr>
        </p:nvSpPr>
        <p:spPr/>
        <p:txBody>
          <a:bodyPr/>
          <a:lstStyle/>
          <a:p>
            <a:pPr rtl="0"/>
            <a:fld id="{3A98EE3D-8CD1-4C3F-BD1C-C98C9596463C}" type="slidenum">
              <a:rPr lang="en-US" smtClean="0"/>
              <a:t>9</a:t>
            </a:fld>
            <a:r>
              <a:rPr lang="en-US" dirty="0"/>
              <a:t> / 29</a:t>
            </a:r>
          </a:p>
        </p:txBody>
      </p:sp>
    </p:spTree>
    <p:extLst>
      <p:ext uri="{BB962C8B-B14F-4D97-AF65-F5344CB8AC3E}">
        <p14:creationId xmlns:p14="http://schemas.microsoft.com/office/powerpoint/2010/main" val="3630092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METODOLOGIA</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p:txBody>
          <a:bodyPr>
            <a:normAutofit/>
          </a:bodyPr>
          <a:lstStyle/>
          <a:p>
            <a:r>
              <a:rPr lang="pt-BR" sz="2000" dirty="0"/>
              <a:t>Linguagem </a:t>
            </a:r>
            <a:r>
              <a:rPr lang="pt-BR" sz="2000" i="1" dirty="0"/>
              <a:t>Python</a:t>
            </a:r>
            <a:r>
              <a:rPr lang="pt-BR" sz="2000" dirty="0"/>
              <a:t>;</a:t>
            </a:r>
          </a:p>
          <a:p>
            <a:r>
              <a:rPr lang="pt-BR" sz="2000" dirty="0"/>
              <a:t>Fusão das bases de dados por meio da biblioteca </a:t>
            </a:r>
            <a:r>
              <a:rPr lang="pt-BR" sz="2000" i="1" dirty="0"/>
              <a:t>pandas</a:t>
            </a:r>
            <a:r>
              <a:rPr lang="pt-BR" sz="2000" dirty="0"/>
              <a:t>;</a:t>
            </a:r>
          </a:p>
          <a:p>
            <a:r>
              <a:rPr lang="pt-BR" sz="2000" dirty="0"/>
              <a:t>Limpeza da base de dados;</a:t>
            </a:r>
          </a:p>
          <a:p>
            <a:r>
              <a:rPr lang="pt-BR" sz="2000" dirty="0"/>
              <a:t>Visualização dos dados por gráficos com a biblioteca </a:t>
            </a:r>
            <a:r>
              <a:rPr lang="pt-BR" sz="2000" i="1" dirty="0" err="1"/>
              <a:t>matplotlib</a:t>
            </a:r>
            <a:r>
              <a:rPr lang="pt-BR" sz="2000" dirty="0"/>
              <a:t>.</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10</a:t>
            </a:fld>
            <a:r>
              <a:rPr lang="en-US" dirty="0"/>
              <a:t> / 29</a:t>
            </a:r>
          </a:p>
        </p:txBody>
      </p:sp>
      <p:pic>
        <p:nvPicPr>
          <p:cNvPr id="2050" name="Picture 2" descr="pandas (software) – Wikipédia, a enciclopédia livre">
            <a:extLst>
              <a:ext uri="{FF2B5EF4-FFF2-40B4-BE49-F238E27FC236}">
                <a16:creationId xmlns:a16="http://schemas.microsoft.com/office/drawing/2014/main" id="{B3785F87-4D04-42BC-8D5B-7C2870EE0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2164" y="3735855"/>
            <a:ext cx="2403763" cy="97152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ogo Python: valor, história, png, vector">
            <a:extLst>
              <a:ext uri="{FF2B5EF4-FFF2-40B4-BE49-F238E27FC236}">
                <a16:creationId xmlns:a16="http://schemas.microsoft.com/office/drawing/2014/main" id="{42FAEB12-4657-4F90-AAC1-92B1D5C43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7883" y="2669456"/>
            <a:ext cx="2403763" cy="697654"/>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m 7">
            <a:extLst>
              <a:ext uri="{FF2B5EF4-FFF2-40B4-BE49-F238E27FC236}">
                <a16:creationId xmlns:a16="http://schemas.microsoft.com/office/drawing/2014/main" id="{DD4FD9BC-0151-4CBB-B8BE-1D77DDF87967}"/>
              </a:ext>
            </a:extLst>
          </p:cNvPr>
          <p:cNvPicPr>
            <a:picLocks noChangeAspect="1"/>
          </p:cNvPicPr>
          <p:nvPr/>
        </p:nvPicPr>
        <p:blipFill>
          <a:blip r:embed="rId4"/>
          <a:stretch>
            <a:fillRect/>
          </a:stretch>
        </p:blipFill>
        <p:spPr>
          <a:xfrm>
            <a:off x="8596746" y="5076121"/>
            <a:ext cx="2514600" cy="569212"/>
          </a:xfrm>
          <a:prstGeom prst="rect">
            <a:avLst/>
          </a:prstGeom>
        </p:spPr>
      </p:pic>
      <p:sp>
        <p:nvSpPr>
          <p:cNvPr id="4" name="Espaço Reservado para Rodapé 3">
            <a:extLst>
              <a:ext uri="{FF2B5EF4-FFF2-40B4-BE49-F238E27FC236}">
                <a16:creationId xmlns:a16="http://schemas.microsoft.com/office/drawing/2014/main" id="{234AEA47-5032-4FD8-8669-2FA92C8ABF63}"/>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1404673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562972-3449-42D1-8185-B4BEFD52AB44}"/>
              </a:ext>
            </a:extLst>
          </p:cNvPr>
          <p:cNvSpPr>
            <a:spLocks noGrp="1"/>
          </p:cNvSpPr>
          <p:nvPr>
            <p:ph type="title"/>
          </p:nvPr>
        </p:nvSpPr>
        <p:spPr/>
        <p:txBody>
          <a:bodyPr rtlCol="0"/>
          <a:lstStyle/>
          <a:p>
            <a:pPr rtl="0"/>
            <a:r>
              <a:rPr lang="pt-BR" dirty="0"/>
              <a:t>M</a:t>
            </a:r>
            <a:r>
              <a:rPr lang="pt-br" dirty="0"/>
              <a:t>etodologia</a:t>
            </a:r>
          </a:p>
        </p:txBody>
      </p:sp>
      <p:graphicFrame>
        <p:nvGraphicFramePr>
          <p:cNvPr id="4" name="Espaço Reservado para Conteúdo 2">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785716698"/>
              </p:ext>
            </p:extLst>
          </p:nvPr>
        </p:nvGraphicFramePr>
        <p:xfrm>
          <a:off x="1197013" y="2340501"/>
          <a:ext cx="10560877" cy="3815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ço Reservado para Número de Slide 4">
            <a:extLst>
              <a:ext uri="{FF2B5EF4-FFF2-40B4-BE49-F238E27FC236}">
                <a16:creationId xmlns:a16="http://schemas.microsoft.com/office/drawing/2014/main" id="{533E6445-1708-4B45-8BBD-D141449DE3A2}"/>
              </a:ext>
            </a:extLst>
          </p:cNvPr>
          <p:cNvSpPr>
            <a:spLocks noGrp="1"/>
          </p:cNvSpPr>
          <p:nvPr>
            <p:ph type="sldNum" sz="quarter" idx="12"/>
          </p:nvPr>
        </p:nvSpPr>
        <p:spPr/>
        <p:txBody>
          <a:bodyPr/>
          <a:lstStyle/>
          <a:p>
            <a:pPr rtl="0"/>
            <a:fld id="{3A98EE3D-8CD1-4C3F-BD1C-C98C9596463C}" type="slidenum">
              <a:rPr lang="en-US" smtClean="0"/>
              <a:t>11</a:t>
            </a:fld>
            <a:r>
              <a:rPr lang="en-US" dirty="0"/>
              <a:t> / 29</a:t>
            </a:r>
          </a:p>
        </p:txBody>
      </p:sp>
      <p:sp>
        <p:nvSpPr>
          <p:cNvPr id="3" name="Espaço Reservado para Rodapé 2">
            <a:extLst>
              <a:ext uri="{FF2B5EF4-FFF2-40B4-BE49-F238E27FC236}">
                <a16:creationId xmlns:a16="http://schemas.microsoft.com/office/drawing/2014/main" id="{69B51DA2-5AF8-484A-B28B-36105777AA9E}"/>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263784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Base de dados</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3" y="2340864"/>
            <a:ext cx="5138887" cy="3814980"/>
          </a:xfrm>
        </p:spPr>
        <p:txBody>
          <a:bodyPr>
            <a:normAutofit/>
          </a:bodyPr>
          <a:lstStyle/>
          <a:p>
            <a:pPr algn="just"/>
            <a:r>
              <a:rPr lang="pt-BR" dirty="0"/>
              <a:t>Bases brasileiras com limitações na quantidade de medições;</a:t>
            </a:r>
          </a:p>
          <a:p>
            <a:pPr algn="just"/>
            <a:r>
              <a:rPr lang="pt-BR" dirty="0"/>
              <a:t>Base de dados pública da plataforma </a:t>
            </a:r>
            <a:r>
              <a:rPr lang="pt-BR" i="1" dirty="0" err="1"/>
              <a:t>Kaggle</a:t>
            </a:r>
            <a:r>
              <a:rPr lang="pt-BR" dirty="0"/>
              <a:t>, publicada por MÖBIUS (2021);</a:t>
            </a:r>
          </a:p>
          <a:p>
            <a:pPr algn="just"/>
            <a:r>
              <a:rPr lang="pt-BR" dirty="0"/>
              <a:t>Tabelas com dados de Energia, Temperatura, Distância, Marcação de Feriado e Informações sobre os Prédios.</a:t>
            </a:r>
          </a:p>
          <a:p>
            <a:endParaRPr lang="pt-BR" dirty="0"/>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12</a:t>
            </a:fld>
            <a:r>
              <a:rPr lang="en-US" dirty="0"/>
              <a:t> / 29</a:t>
            </a:r>
          </a:p>
        </p:txBody>
      </p:sp>
      <p:pic>
        <p:nvPicPr>
          <p:cNvPr id="8" name="Imagem 7">
            <a:extLst>
              <a:ext uri="{FF2B5EF4-FFF2-40B4-BE49-F238E27FC236}">
                <a16:creationId xmlns:a16="http://schemas.microsoft.com/office/drawing/2014/main" id="{CBDB2108-1211-4015-9C6E-FDE824EE58E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7036" y="2458798"/>
            <a:ext cx="5829193" cy="3507894"/>
          </a:xfrm>
          <a:prstGeom prst="rect">
            <a:avLst/>
          </a:prstGeom>
          <a:noFill/>
        </p:spPr>
      </p:pic>
      <p:sp>
        <p:nvSpPr>
          <p:cNvPr id="4" name="Espaço Reservado para Rodapé 3">
            <a:extLst>
              <a:ext uri="{FF2B5EF4-FFF2-40B4-BE49-F238E27FC236}">
                <a16:creationId xmlns:a16="http://schemas.microsoft.com/office/drawing/2014/main" id="{289D3216-B55E-42CC-9E4D-8FFE249C4E4C}"/>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476188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Pré-processamento (EDIFÍCIO DE INTERESSE)</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3" y="2340864"/>
            <a:ext cx="11029615" cy="3634486"/>
          </a:xfrm>
        </p:spPr>
        <p:txBody>
          <a:bodyPr>
            <a:normAutofit fontScale="92500" lnSpcReduction="10000"/>
          </a:bodyPr>
          <a:lstStyle/>
          <a:p>
            <a:pPr algn="just"/>
            <a:r>
              <a:rPr lang="pt-BR" sz="2000" dirty="0"/>
              <a:t>Edifício de interesse: </a:t>
            </a:r>
            <a:r>
              <a:rPr lang="pt-BR" sz="2000" b="1" dirty="0" err="1"/>
              <a:t>SiteId</a:t>
            </a:r>
            <a:r>
              <a:rPr lang="pt-BR" sz="2000" b="1" dirty="0"/>
              <a:t> = 40</a:t>
            </a:r>
            <a:r>
              <a:rPr lang="pt-BR" sz="2000" dirty="0"/>
              <a:t>;</a:t>
            </a:r>
          </a:p>
          <a:p>
            <a:pPr algn="just"/>
            <a:r>
              <a:rPr lang="pt-BR" sz="2000" b="1" dirty="0"/>
              <a:t>17.352 registros</a:t>
            </a:r>
            <a:r>
              <a:rPr lang="pt-BR" sz="2000" dirty="0"/>
              <a:t> de energia;</a:t>
            </a:r>
          </a:p>
          <a:p>
            <a:pPr algn="just"/>
            <a:r>
              <a:rPr lang="pt-BR" sz="2000" b="1" dirty="0"/>
              <a:t>99%</a:t>
            </a:r>
            <a:r>
              <a:rPr lang="pt-BR" sz="2000" dirty="0"/>
              <a:t> da base possui registro de temperatura; </a:t>
            </a:r>
          </a:p>
          <a:p>
            <a:pPr algn="just"/>
            <a:r>
              <a:rPr lang="pt-BR" sz="2000" dirty="0"/>
              <a:t>Período </a:t>
            </a:r>
            <a:r>
              <a:rPr lang="pt-BR" sz="2000" b="1" dirty="0"/>
              <a:t>03 de julho de 2015</a:t>
            </a:r>
            <a:r>
              <a:rPr lang="pt-BR" sz="2000" dirty="0"/>
              <a:t> a </a:t>
            </a:r>
            <a:r>
              <a:rPr lang="pt-BR" sz="2000" b="1" dirty="0"/>
              <a:t>08 de novembro de 2017</a:t>
            </a:r>
            <a:r>
              <a:rPr lang="pt-BR" sz="2000" dirty="0"/>
              <a:t>;</a:t>
            </a:r>
          </a:p>
          <a:p>
            <a:pPr algn="just"/>
            <a:r>
              <a:rPr lang="pt-BR" sz="2000" dirty="0"/>
              <a:t>Medições com frequência de 1h;</a:t>
            </a:r>
          </a:p>
          <a:p>
            <a:pPr algn="just"/>
            <a:r>
              <a:rPr lang="pt-BR" sz="2000" dirty="0"/>
              <a:t>17 gaps de medições;</a:t>
            </a:r>
          </a:p>
          <a:p>
            <a:r>
              <a:rPr lang="pt-BR" sz="2000" dirty="0"/>
              <a:t>Limpeza da base;</a:t>
            </a:r>
          </a:p>
          <a:p>
            <a:r>
              <a:rPr lang="pt-BR" sz="2000" dirty="0"/>
              <a:t>Consideração da menor distância de medição.</a:t>
            </a:r>
          </a:p>
          <a:p>
            <a:pPr marL="0" indent="0" algn="just">
              <a:buNone/>
            </a:pPr>
            <a:endParaRPr lang="pt-BR" dirty="0"/>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13</a:t>
            </a:fld>
            <a:r>
              <a:rPr lang="en-US" dirty="0"/>
              <a:t> / 29</a:t>
            </a:r>
          </a:p>
        </p:txBody>
      </p:sp>
      <p:sp>
        <p:nvSpPr>
          <p:cNvPr id="4" name="Espaço Reservado para Rodapé 3">
            <a:extLst>
              <a:ext uri="{FF2B5EF4-FFF2-40B4-BE49-F238E27FC236}">
                <a16:creationId xmlns:a16="http://schemas.microsoft.com/office/drawing/2014/main" id="{A22A9539-D115-4494-A4B5-A7BC563A733A}"/>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
        <p:nvSpPr>
          <p:cNvPr id="9" name="Espaço Reservado para Conteúdo 2">
            <a:extLst>
              <a:ext uri="{FF2B5EF4-FFF2-40B4-BE49-F238E27FC236}">
                <a16:creationId xmlns:a16="http://schemas.microsoft.com/office/drawing/2014/main" id="{3C782911-8722-4821-BCBC-CC88951BA1F0}"/>
              </a:ext>
            </a:extLst>
          </p:cNvPr>
          <p:cNvSpPr txBox="1">
            <a:spLocks/>
          </p:cNvSpPr>
          <p:nvPr/>
        </p:nvSpPr>
        <p:spPr>
          <a:xfrm>
            <a:off x="6493166" y="2493264"/>
            <a:ext cx="5270041" cy="3634486"/>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endParaRPr lang="pt-BR" dirty="0"/>
          </a:p>
        </p:txBody>
      </p:sp>
    </p:spTree>
    <p:extLst>
      <p:ext uri="{BB962C8B-B14F-4D97-AF65-F5344CB8AC3E}">
        <p14:creationId xmlns:p14="http://schemas.microsoft.com/office/powerpoint/2010/main" val="2479490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Pré-processamento</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14</a:t>
            </a:fld>
            <a:r>
              <a:rPr lang="en-US" dirty="0"/>
              <a:t> / 29</a:t>
            </a:r>
          </a:p>
        </p:txBody>
      </p:sp>
      <p:pic>
        <p:nvPicPr>
          <p:cNvPr id="8" name="Espaço Reservado para Conteúdo 7">
            <a:extLst>
              <a:ext uri="{FF2B5EF4-FFF2-40B4-BE49-F238E27FC236}">
                <a16:creationId xmlns:a16="http://schemas.microsoft.com/office/drawing/2014/main" id="{B498C6D5-0BA5-48F0-9B77-3B02C59B8ADB}"/>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2452" y="2482087"/>
            <a:ext cx="5863548" cy="3127676"/>
          </a:xfrm>
          <a:prstGeom prst="rect">
            <a:avLst/>
          </a:prstGeom>
          <a:noFill/>
          <a:ln>
            <a:noFill/>
          </a:ln>
        </p:spPr>
      </p:pic>
      <p:pic>
        <p:nvPicPr>
          <p:cNvPr id="10" name="Imagem 9">
            <a:extLst>
              <a:ext uri="{FF2B5EF4-FFF2-40B4-BE49-F238E27FC236}">
                <a16:creationId xmlns:a16="http://schemas.microsoft.com/office/drawing/2014/main" id="{0CEA140A-1682-4982-80EE-D55DF4EC26D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8040" y="2482087"/>
            <a:ext cx="5761509" cy="3127676"/>
          </a:xfrm>
          <a:prstGeom prst="rect">
            <a:avLst/>
          </a:prstGeom>
          <a:noFill/>
          <a:ln>
            <a:noFill/>
          </a:ln>
        </p:spPr>
      </p:pic>
      <p:sp>
        <p:nvSpPr>
          <p:cNvPr id="3" name="Espaço Reservado para Rodapé 2">
            <a:extLst>
              <a:ext uri="{FF2B5EF4-FFF2-40B4-BE49-F238E27FC236}">
                <a16:creationId xmlns:a16="http://schemas.microsoft.com/office/drawing/2014/main" id="{914AAFF0-401A-47F4-A317-A96CC9102965}"/>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2939262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Pré-processamento</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2" y="2340864"/>
            <a:ext cx="11029615" cy="1469693"/>
          </a:xfrm>
        </p:spPr>
        <p:txBody>
          <a:bodyPr>
            <a:normAutofit/>
          </a:bodyPr>
          <a:lstStyle/>
          <a:p>
            <a:r>
              <a:rPr lang="pt-BR" dirty="0"/>
              <a:t>Recurso de </a:t>
            </a:r>
            <a:r>
              <a:rPr lang="pt-BR" i="1" dirty="0" err="1"/>
              <a:t>Kaleko</a:t>
            </a:r>
            <a:r>
              <a:rPr lang="pt-BR" dirty="0"/>
              <a:t> (2017), </a:t>
            </a:r>
            <a:r>
              <a:rPr lang="pt-BR" b="1" dirty="0"/>
              <a:t>considerando os minutos</a:t>
            </a:r>
            <a:r>
              <a:rPr lang="pt-BR" dirty="0"/>
              <a:t>;</a:t>
            </a:r>
          </a:p>
          <a:p>
            <a:r>
              <a:rPr lang="pt-BR" dirty="0"/>
              <a:t>Duas colunas para descrever o tempo.</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15</a:t>
            </a:fld>
            <a:r>
              <a:rPr lang="en-US" dirty="0"/>
              <a:t> / 29</a:t>
            </a: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AB27657B-F02F-4A21-8CF3-907D76705571}"/>
                  </a:ext>
                </a:extLst>
              </p:cNvPr>
              <p:cNvSpPr txBox="1"/>
              <p:nvPr/>
            </p:nvSpPr>
            <p:spPr>
              <a:xfrm>
                <a:off x="0" y="4073010"/>
                <a:ext cx="6096000"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𝑑𝑓</m:t>
                      </m:r>
                      <m:d>
                        <m:dPr>
                          <m:begChr m:val="["/>
                          <m:endChr m:val="]"/>
                          <m:ctrlPr>
                            <a:rPr lang="pt-BR" i="1">
                              <a:solidFill>
                                <a:srgbClr val="836967"/>
                              </a:solidFill>
                              <a:latin typeface="Cambria Math" panose="02040503050406030204" pitchFamily="18" charset="0"/>
                            </a:rPr>
                          </m:ctrlPr>
                        </m:dPr>
                        <m:e>
                          <m:r>
                            <a:rPr lang="pt-BR" i="1">
                              <a:latin typeface="Cambria Math" panose="02040503050406030204" pitchFamily="18" charset="0"/>
                            </a:rPr>
                            <m:t>h𝑟</m:t>
                          </m:r>
                          <m:r>
                            <m:rPr>
                              <m:lit/>
                            </m:rPr>
                            <a:rPr lang="pt-BR" i="0">
                              <a:latin typeface="Cambria Math" panose="02040503050406030204" pitchFamily="18" charset="0"/>
                            </a:rPr>
                            <m:t>_</m:t>
                          </m:r>
                          <m:r>
                            <a:rPr lang="pt-BR" i="1">
                              <a:latin typeface="Cambria Math" panose="02040503050406030204" pitchFamily="18" charset="0"/>
                            </a:rPr>
                            <m:t>𝑠𝑖𝑛</m:t>
                          </m:r>
                        </m:e>
                      </m:d>
                      <m:r>
                        <a:rPr lang="pt-BR" i="0">
                          <a:latin typeface="Cambria Math" panose="02040503050406030204" pitchFamily="18" charset="0"/>
                        </a:rPr>
                        <m:t>=</m:t>
                      </m:r>
                      <m:r>
                        <a:rPr lang="pt-BR" i="1">
                          <a:latin typeface="Cambria Math" panose="02040503050406030204" pitchFamily="18" charset="0"/>
                        </a:rPr>
                        <m:t>𝑠𝑒𝑛</m:t>
                      </m:r>
                      <m:d>
                        <m:dPr>
                          <m:ctrlPr>
                            <a:rPr lang="pt-BR" i="1">
                              <a:solidFill>
                                <a:srgbClr val="836967"/>
                              </a:solidFill>
                              <a:latin typeface="Cambria Math" panose="02040503050406030204" pitchFamily="18" charset="0"/>
                            </a:rPr>
                          </m:ctrlPr>
                        </m:dPr>
                        <m:e>
                          <m:d>
                            <m:dPr>
                              <m:ctrlPr>
                                <a:rPr lang="pt-BR" i="1">
                                  <a:solidFill>
                                    <a:srgbClr val="836967"/>
                                  </a:solidFill>
                                  <a:latin typeface="Cambria Math" panose="02040503050406030204" pitchFamily="18" charset="0"/>
                                </a:rPr>
                              </m:ctrlPr>
                            </m:dPr>
                            <m:e>
                              <m:r>
                                <a:rPr lang="pt-BR" i="1">
                                  <a:latin typeface="Cambria Math" panose="02040503050406030204" pitchFamily="18" charset="0"/>
                                </a:rPr>
                                <m:t>h𝑜𝑟𝑎</m:t>
                              </m:r>
                              <m:r>
                                <a:rPr lang="pt-BR" i="0">
                                  <a:latin typeface="Cambria Math" panose="02040503050406030204" pitchFamily="18" charset="0"/>
                                </a:rPr>
                                <m:t>+</m:t>
                              </m:r>
                              <m:f>
                                <m:fPr>
                                  <m:ctrlPr>
                                    <a:rPr lang="pt-BR" i="1">
                                      <a:solidFill>
                                        <a:srgbClr val="836967"/>
                                      </a:solidFill>
                                      <a:latin typeface="Cambria Math" panose="02040503050406030204" pitchFamily="18" charset="0"/>
                                    </a:rPr>
                                  </m:ctrlPr>
                                </m:fPr>
                                <m:num>
                                  <m:r>
                                    <a:rPr lang="pt-BR" i="1">
                                      <a:latin typeface="Cambria Math" panose="02040503050406030204" pitchFamily="18" charset="0"/>
                                    </a:rPr>
                                    <m:t>𝑚𝑖𝑛</m:t>
                                  </m:r>
                                </m:num>
                                <m:den>
                                  <m:r>
                                    <a:rPr lang="pt-BR" i="0">
                                      <a:latin typeface="Cambria Math" panose="02040503050406030204" pitchFamily="18" charset="0"/>
                                    </a:rPr>
                                    <m:t>60</m:t>
                                  </m:r>
                                </m:den>
                              </m:f>
                            </m:e>
                          </m:d>
                          <m:r>
                            <a:rPr lang="pt-BR" i="0">
                              <a:latin typeface="Cambria Math" panose="02040503050406030204" pitchFamily="18" charset="0"/>
                            </a:rPr>
                            <m:t>.</m:t>
                          </m:r>
                          <m:f>
                            <m:fPr>
                              <m:ctrlPr>
                                <a:rPr lang="pt-BR" i="1">
                                  <a:solidFill>
                                    <a:srgbClr val="836967"/>
                                  </a:solidFill>
                                  <a:latin typeface="Cambria Math" panose="02040503050406030204" pitchFamily="18" charset="0"/>
                                </a:rPr>
                              </m:ctrlPr>
                            </m:fPr>
                            <m:num>
                              <m:r>
                                <a:rPr lang="pt-BR" i="0">
                                  <a:latin typeface="Cambria Math" panose="02040503050406030204" pitchFamily="18" charset="0"/>
                                </a:rPr>
                                <m:t>2</m:t>
                              </m:r>
                              <m:r>
                                <a:rPr lang="pt-BR" i="1">
                                  <a:latin typeface="Cambria Math" panose="02040503050406030204" pitchFamily="18" charset="0"/>
                                </a:rPr>
                                <m:t>𝜋</m:t>
                              </m:r>
                            </m:num>
                            <m:den>
                              <m:r>
                                <a:rPr lang="pt-BR" i="0">
                                  <a:latin typeface="Cambria Math" panose="02040503050406030204" pitchFamily="18" charset="0"/>
                                </a:rPr>
                                <m:t>24</m:t>
                              </m:r>
                            </m:den>
                          </m:f>
                        </m:e>
                      </m:d>
                    </m:oMath>
                  </m:oMathPara>
                </a14:m>
                <a:endParaRPr lang="pt-BR" dirty="0"/>
              </a:p>
            </p:txBody>
          </p:sp>
        </mc:Choice>
        <mc:Fallback xmlns="">
          <p:sp>
            <p:nvSpPr>
              <p:cNvPr id="9" name="CaixaDeTexto 8">
                <a:extLst>
                  <a:ext uri="{FF2B5EF4-FFF2-40B4-BE49-F238E27FC236}">
                    <a16:creationId xmlns:a16="http://schemas.microsoft.com/office/drawing/2014/main" id="{AB27657B-F02F-4A21-8CF3-907D76705571}"/>
                  </a:ext>
                </a:extLst>
              </p:cNvPr>
              <p:cNvSpPr txBox="1">
                <a:spLocks noRot="1" noChangeAspect="1" noMove="1" noResize="1" noEditPoints="1" noAdjustHandles="1" noChangeArrowheads="1" noChangeShapeType="1" noTextEdit="1"/>
              </p:cNvSpPr>
              <p:nvPr/>
            </p:nvSpPr>
            <p:spPr>
              <a:xfrm>
                <a:off x="0" y="4073010"/>
                <a:ext cx="6096000" cy="808235"/>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CED55A70-41D8-49CB-9B0A-107BEBA87226}"/>
                  </a:ext>
                </a:extLst>
              </p:cNvPr>
              <p:cNvSpPr txBox="1"/>
              <p:nvPr/>
            </p:nvSpPr>
            <p:spPr>
              <a:xfrm>
                <a:off x="0" y="5143698"/>
                <a:ext cx="6093724"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𝑑𝑓</m:t>
                      </m:r>
                      <m:d>
                        <m:dPr>
                          <m:begChr m:val="["/>
                          <m:endChr m:val="]"/>
                          <m:ctrlPr>
                            <a:rPr lang="pt-BR" i="1">
                              <a:solidFill>
                                <a:srgbClr val="836967"/>
                              </a:solidFill>
                              <a:latin typeface="Cambria Math" panose="02040503050406030204" pitchFamily="18" charset="0"/>
                            </a:rPr>
                          </m:ctrlPr>
                        </m:dPr>
                        <m:e>
                          <m:r>
                            <a:rPr lang="pt-BR" i="1">
                              <a:latin typeface="Cambria Math" panose="02040503050406030204" pitchFamily="18" charset="0"/>
                            </a:rPr>
                            <m:t>h𝑟</m:t>
                          </m:r>
                          <m:r>
                            <m:rPr>
                              <m:lit/>
                            </m:rPr>
                            <a:rPr lang="pt-BR" i="0">
                              <a:latin typeface="Cambria Math" panose="02040503050406030204" pitchFamily="18" charset="0"/>
                            </a:rPr>
                            <m:t>_</m:t>
                          </m:r>
                          <m:r>
                            <a:rPr lang="pt-BR" i="1">
                              <a:latin typeface="Cambria Math" panose="02040503050406030204" pitchFamily="18" charset="0"/>
                            </a:rPr>
                            <m:t>𝑐𝑜𝑠</m:t>
                          </m:r>
                        </m:e>
                      </m:d>
                      <m:r>
                        <a:rPr lang="pt-BR" i="0">
                          <a:latin typeface="Cambria Math" panose="02040503050406030204" pitchFamily="18" charset="0"/>
                        </a:rPr>
                        <m:t>=</m:t>
                      </m:r>
                      <m:r>
                        <a:rPr lang="pt-BR" i="1">
                          <a:latin typeface="Cambria Math" panose="02040503050406030204" pitchFamily="18" charset="0"/>
                        </a:rPr>
                        <m:t>𝑐𝑜𝑠</m:t>
                      </m:r>
                      <m:d>
                        <m:dPr>
                          <m:ctrlPr>
                            <a:rPr lang="pt-BR" i="1">
                              <a:solidFill>
                                <a:srgbClr val="836967"/>
                              </a:solidFill>
                              <a:latin typeface="Cambria Math" panose="02040503050406030204" pitchFamily="18" charset="0"/>
                            </a:rPr>
                          </m:ctrlPr>
                        </m:dPr>
                        <m:e>
                          <m:d>
                            <m:dPr>
                              <m:ctrlPr>
                                <a:rPr lang="pt-BR" i="1">
                                  <a:solidFill>
                                    <a:srgbClr val="836967"/>
                                  </a:solidFill>
                                  <a:latin typeface="Cambria Math" panose="02040503050406030204" pitchFamily="18" charset="0"/>
                                </a:rPr>
                              </m:ctrlPr>
                            </m:dPr>
                            <m:e>
                              <m:r>
                                <a:rPr lang="pt-BR" i="1">
                                  <a:latin typeface="Cambria Math" panose="02040503050406030204" pitchFamily="18" charset="0"/>
                                </a:rPr>
                                <m:t>h𝑜𝑟𝑎</m:t>
                              </m:r>
                              <m:r>
                                <a:rPr lang="pt-BR" i="0">
                                  <a:latin typeface="Cambria Math" panose="02040503050406030204" pitchFamily="18" charset="0"/>
                                </a:rPr>
                                <m:t>+</m:t>
                              </m:r>
                              <m:f>
                                <m:fPr>
                                  <m:ctrlPr>
                                    <a:rPr lang="pt-BR" i="1">
                                      <a:solidFill>
                                        <a:srgbClr val="836967"/>
                                      </a:solidFill>
                                      <a:latin typeface="Cambria Math" panose="02040503050406030204" pitchFamily="18" charset="0"/>
                                    </a:rPr>
                                  </m:ctrlPr>
                                </m:fPr>
                                <m:num>
                                  <m:r>
                                    <a:rPr lang="pt-BR" i="1">
                                      <a:latin typeface="Cambria Math" panose="02040503050406030204" pitchFamily="18" charset="0"/>
                                    </a:rPr>
                                    <m:t>𝑚𝑖𝑛</m:t>
                                  </m:r>
                                </m:num>
                                <m:den>
                                  <m:r>
                                    <a:rPr lang="pt-BR" i="0">
                                      <a:latin typeface="Cambria Math" panose="02040503050406030204" pitchFamily="18" charset="0"/>
                                    </a:rPr>
                                    <m:t>60</m:t>
                                  </m:r>
                                </m:den>
                              </m:f>
                            </m:e>
                          </m:d>
                          <m:r>
                            <a:rPr lang="pt-BR" i="0">
                              <a:latin typeface="Cambria Math" panose="02040503050406030204" pitchFamily="18" charset="0"/>
                            </a:rPr>
                            <m:t>.</m:t>
                          </m:r>
                          <m:f>
                            <m:fPr>
                              <m:ctrlPr>
                                <a:rPr lang="pt-BR" i="1">
                                  <a:solidFill>
                                    <a:srgbClr val="836967"/>
                                  </a:solidFill>
                                  <a:latin typeface="Cambria Math" panose="02040503050406030204" pitchFamily="18" charset="0"/>
                                </a:rPr>
                              </m:ctrlPr>
                            </m:fPr>
                            <m:num>
                              <m:r>
                                <a:rPr lang="pt-BR" i="0">
                                  <a:latin typeface="Cambria Math" panose="02040503050406030204" pitchFamily="18" charset="0"/>
                                </a:rPr>
                                <m:t>2</m:t>
                              </m:r>
                              <m:r>
                                <a:rPr lang="pt-BR" i="1">
                                  <a:latin typeface="Cambria Math" panose="02040503050406030204" pitchFamily="18" charset="0"/>
                                </a:rPr>
                                <m:t>𝜋</m:t>
                              </m:r>
                            </m:num>
                            <m:den>
                              <m:r>
                                <a:rPr lang="pt-BR" i="0">
                                  <a:latin typeface="Cambria Math" panose="02040503050406030204" pitchFamily="18" charset="0"/>
                                </a:rPr>
                                <m:t>24</m:t>
                              </m:r>
                            </m:den>
                          </m:f>
                        </m:e>
                      </m:d>
                    </m:oMath>
                  </m:oMathPara>
                </a14:m>
                <a:endParaRPr lang="pt-BR" dirty="0"/>
              </a:p>
            </p:txBody>
          </p:sp>
        </mc:Choice>
        <mc:Fallback xmlns="">
          <p:sp>
            <p:nvSpPr>
              <p:cNvPr id="11" name="CaixaDeTexto 10">
                <a:extLst>
                  <a:ext uri="{FF2B5EF4-FFF2-40B4-BE49-F238E27FC236}">
                    <a16:creationId xmlns:a16="http://schemas.microsoft.com/office/drawing/2014/main" id="{CED55A70-41D8-49CB-9B0A-107BEBA87226}"/>
                  </a:ext>
                </a:extLst>
              </p:cNvPr>
              <p:cNvSpPr txBox="1">
                <a:spLocks noRot="1" noChangeAspect="1" noMove="1" noResize="1" noEditPoints="1" noAdjustHandles="1" noChangeArrowheads="1" noChangeShapeType="1" noTextEdit="1"/>
              </p:cNvSpPr>
              <p:nvPr/>
            </p:nvSpPr>
            <p:spPr>
              <a:xfrm>
                <a:off x="0" y="5143698"/>
                <a:ext cx="6093724" cy="808235"/>
              </a:xfrm>
              <a:prstGeom prst="rect">
                <a:avLst/>
              </a:prstGeom>
              <a:blipFill>
                <a:blip r:embed="rId4"/>
                <a:stretch>
                  <a:fillRect/>
                </a:stretch>
              </a:blipFill>
            </p:spPr>
            <p:txBody>
              <a:bodyPr/>
              <a:lstStyle/>
              <a:p>
                <a:r>
                  <a:rPr lang="pt-BR">
                    <a:noFill/>
                  </a:rPr>
                  <a:t> </a:t>
                </a:r>
              </a:p>
            </p:txBody>
          </p:sp>
        </mc:Fallback>
      </mc:AlternateContent>
      <p:pic>
        <p:nvPicPr>
          <p:cNvPr id="12" name="Imagem 11">
            <a:extLst>
              <a:ext uri="{FF2B5EF4-FFF2-40B4-BE49-F238E27FC236}">
                <a16:creationId xmlns:a16="http://schemas.microsoft.com/office/drawing/2014/main" id="{2EF25D40-50AC-4014-B750-BF739676252C}"/>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306284" y="2345848"/>
            <a:ext cx="5304523" cy="3809995"/>
          </a:xfrm>
          <a:prstGeom prst="rect">
            <a:avLst/>
          </a:prstGeom>
          <a:noFill/>
          <a:ln>
            <a:noFill/>
          </a:ln>
        </p:spPr>
      </p:pic>
      <p:sp>
        <p:nvSpPr>
          <p:cNvPr id="4" name="Espaço Reservado para Rodapé 3">
            <a:extLst>
              <a:ext uri="{FF2B5EF4-FFF2-40B4-BE49-F238E27FC236}">
                <a16:creationId xmlns:a16="http://schemas.microsoft.com/office/drawing/2014/main" id="{0345B467-AD42-4294-A4C2-D78EAAB24A85}"/>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99836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Pré-processamento</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16</a:t>
            </a:fld>
            <a:r>
              <a:rPr lang="en-US" dirty="0"/>
              <a:t> / 29</a:t>
            </a:r>
          </a:p>
        </p:txBody>
      </p:sp>
      <p:sp>
        <p:nvSpPr>
          <p:cNvPr id="4" name="Espaço Reservado para Rodapé 3">
            <a:extLst>
              <a:ext uri="{FF2B5EF4-FFF2-40B4-BE49-F238E27FC236}">
                <a16:creationId xmlns:a16="http://schemas.microsoft.com/office/drawing/2014/main" id="{0345B467-AD42-4294-A4C2-D78EAAB24A85}"/>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45397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Pré-processamento</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17</a:t>
            </a:fld>
            <a:r>
              <a:rPr lang="en-US" dirty="0"/>
              <a:t> / 29</a:t>
            </a:r>
          </a:p>
        </p:txBody>
      </p:sp>
      <p:sp>
        <p:nvSpPr>
          <p:cNvPr id="10" name="CaixaDeTexto 9">
            <a:extLst>
              <a:ext uri="{FF2B5EF4-FFF2-40B4-BE49-F238E27FC236}">
                <a16:creationId xmlns:a16="http://schemas.microsoft.com/office/drawing/2014/main" id="{AB0044E8-6423-4B7C-8B71-66B875133B9B}"/>
              </a:ext>
            </a:extLst>
          </p:cNvPr>
          <p:cNvSpPr txBox="1"/>
          <p:nvPr/>
        </p:nvSpPr>
        <p:spPr>
          <a:xfrm>
            <a:off x="3657151" y="5871381"/>
            <a:ext cx="4877696" cy="353943"/>
          </a:xfrm>
          <a:prstGeom prst="rect">
            <a:avLst/>
          </a:prstGeom>
          <a:noFill/>
        </p:spPr>
        <p:txBody>
          <a:bodyPr wrap="square" rtlCol="0">
            <a:spAutoFit/>
          </a:bodyPr>
          <a:lstStyle/>
          <a:p>
            <a:r>
              <a:rPr lang="pt-BR" sz="1700" dirty="0">
                <a:solidFill>
                  <a:schemeClr val="tx1">
                    <a:lumMod val="75000"/>
                    <a:lumOff val="25000"/>
                  </a:schemeClr>
                </a:solidFill>
              </a:rPr>
              <a:t>Correlação de Pearson entre as variáveis. Site = 40</a:t>
            </a:r>
          </a:p>
        </p:txBody>
      </p:sp>
      <p:sp>
        <p:nvSpPr>
          <p:cNvPr id="3" name="Espaço Reservado para Rodapé 2">
            <a:extLst>
              <a:ext uri="{FF2B5EF4-FFF2-40B4-BE49-F238E27FC236}">
                <a16:creationId xmlns:a16="http://schemas.microsoft.com/office/drawing/2014/main" id="{B15DA932-A8D5-4BF9-B08E-5AA5C2303C11}"/>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196519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Treino (validação cruzada)</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18</a:t>
            </a:fld>
            <a:r>
              <a:rPr lang="en-US" dirty="0"/>
              <a:t> / 29</a:t>
            </a:r>
          </a:p>
        </p:txBody>
      </p:sp>
      <p:pic>
        <p:nvPicPr>
          <p:cNvPr id="8" name="Espaço Reservado para Conteúdo 7">
            <a:extLst>
              <a:ext uri="{FF2B5EF4-FFF2-40B4-BE49-F238E27FC236}">
                <a16:creationId xmlns:a16="http://schemas.microsoft.com/office/drawing/2014/main" id="{27EF2C8F-DCF5-476D-8CB0-F04876BC77BF}"/>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413974" y="2222752"/>
            <a:ext cx="5556532" cy="3631375"/>
          </a:xfrm>
          <a:prstGeom prst="rect">
            <a:avLst/>
          </a:prstGeom>
          <a:noFill/>
          <a:ln>
            <a:noFill/>
          </a:ln>
        </p:spPr>
      </p:pic>
      <p:sp>
        <p:nvSpPr>
          <p:cNvPr id="4" name="CaixaDeTexto 3">
            <a:extLst>
              <a:ext uri="{FF2B5EF4-FFF2-40B4-BE49-F238E27FC236}">
                <a16:creationId xmlns:a16="http://schemas.microsoft.com/office/drawing/2014/main" id="{40DC4EFF-9922-406D-8404-205277B6B69B}"/>
              </a:ext>
            </a:extLst>
          </p:cNvPr>
          <p:cNvSpPr txBox="1"/>
          <p:nvPr/>
        </p:nvSpPr>
        <p:spPr>
          <a:xfrm>
            <a:off x="4746180" y="6069971"/>
            <a:ext cx="6892119" cy="353943"/>
          </a:xfrm>
          <a:prstGeom prst="rect">
            <a:avLst/>
          </a:prstGeom>
          <a:noFill/>
        </p:spPr>
        <p:txBody>
          <a:bodyPr wrap="square" rtlCol="0">
            <a:spAutoFit/>
          </a:bodyPr>
          <a:lstStyle/>
          <a:p>
            <a:r>
              <a:rPr lang="pt-BR" sz="1700" dirty="0">
                <a:solidFill>
                  <a:schemeClr val="tx1">
                    <a:lumMod val="75000"/>
                    <a:lumOff val="25000"/>
                  </a:schemeClr>
                </a:solidFill>
              </a:rPr>
              <a:t>Fluxo de treinamento típico de uma validação cruzada, Pedregosa (2011)</a:t>
            </a:r>
          </a:p>
        </p:txBody>
      </p:sp>
      <p:sp>
        <p:nvSpPr>
          <p:cNvPr id="9" name="Espaço Reservado para Conteúdo 2">
            <a:extLst>
              <a:ext uri="{FF2B5EF4-FFF2-40B4-BE49-F238E27FC236}">
                <a16:creationId xmlns:a16="http://schemas.microsoft.com/office/drawing/2014/main" id="{4C505A98-A92F-449A-8F1C-E2327F8B7F1C}"/>
              </a:ext>
            </a:extLst>
          </p:cNvPr>
          <p:cNvSpPr txBox="1">
            <a:spLocks/>
          </p:cNvSpPr>
          <p:nvPr/>
        </p:nvSpPr>
        <p:spPr>
          <a:xfrm>
            <a:off x="581193" y="2340864"/>
            <a:ext cx="5514808" cy="3634486"/>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dirty="0"/>
              <a:t>Separação aleatória da base:</a:t>
            </a:r>
          </a:p>
          <a:p>
            <a:r>
              <a:rPr lang="pt-BR" dirty="0"/>
              <a:t>Treino: 75%</a:t>
            </a:r>
          </a:p>
          <a:p>
            <a:r>
              <a:rPr lang="pt-BR" dirty="0"/>
              <a:t>Teste: 25% </a:t>
            </a:r>
          </a:p>
        </p:txBody>
      </p:sp>
      <p:sp>
        <p:nvSpPr>
          <p:cNvPr id="3" name="Espaço Reservado para Rodapé 2">
            <a:extLst>
              <a:ext uri="{FF2B5EF4-FFF2-40B4-BE49-F238E27FC236}">
                <a16:creationId xmlns:a16="http://schemas.microsoft.com/office/drawing/2014/main" id="{23160ACF-310A-416A-BE2A-A9B862F31A4C}"/>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1542994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Treino (validação cruzada)</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2" y="2340864"/>
            <a:ext cx="5588699" cy="3634486"/>
          </a:xfrm>
        </p:spPr>
        <p:txBody>
          <a:bodyPr>
            <a:normAutofit/>
          </a:bodyPr>
          <a:lstStyle/>
          <a:p>
            <a:endParaRPr lang="pt-BR" dirty="0"/>
          </a:p>
          <a:p>
            <a:endParaRPr lang="pt-BR" dirty="0"/>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19</a:t>
            </a:fld>
            <a:r>
              <a:rPr lang="en-US" dirty="0"/>
              <a:t> / 29</a:t>
            </a:r>
          </a:p>
        </p:txBody>
      </p:sp>
      <mc:AlternateContent xmlns:mc="http://schemas.openxmlformats.org/markup-compatibility/2006" xmlns:a14="http://schemas.microsoft.com/office/drawing/2010/main">
        <mc:Choice Requires="a14">
          <p:sp>
            <p:nvSpPr>
              <p:cNvPr id="8" name="Espaço Reservado para Conteúdo 2">
                <a:extLst>
                  <a:ext uri="{FF2B5EF4-FFF2-40B4-BE49-F238E27FC236}">
                    <a16:creationId xmlns:a16="http://schemas.microsoft.com/office/drawing/2014/main" id="{8084408A-A4F8-430A-A51D-2489C23839B4}"/>
                  </a:ext>
                </a:extLst>
              </p:cNvPr>
              <p:cNvSpPr txBox="1">
                <a:spLocks/>
              </p:cNvSpPr>
              <p:nvPr/>
            </p:nvSpPr>
            <p:spPr>
              <a:xfrm>
                <a:off x="7498401" y="2340152"/>
                <a:ext cx="4186297" cy="3634486"/>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pt-BR" b="1" dirty="0"/>
                  <a:t>Métrica: </a:t>
                </a:r>
                <a14:m>
                  <m:oMath xmlns:m="http://schemas.openxmlformats.org/officeDocument/2006/math">
                    <m:sSup>
                      <m:sSupPr>
                        <m:ctrlPr>
                          <a:rPr lang="pt-BR" b="0" i="1" smtClean="0">
                            <a:latin typeface="Cambria Math" panose="02040503050406030204" pitchFamily="18" charset="0"/>
                          </a:rPr>
                        </m:ctrlPr>
                      </m:sSupPr>
                      <m:e>
                        <m:r>
                          <a:rPr lang="pt-BR" b="0" i="1" smtClean="0">
                            <a:latin typeface="Cambria Math" panose="02040503050406030204" pitchFamily="18" charset="0"/>
                          </a:rPr>
                          <m:t>𝑅</m:t>
                        </m:r>
                      </m:e>
                      <m:sup>
                        <m:r>
                          <a:rPr lang="pt-BR" b="0" i="1" smtClean="0">
                            <a:latin typeface="Cambria Math" panose="02040503050406030204" pitchFamily="18" charset="0"/>
                          </a:rPr>
                          <m:t>2</m:t>
                        </m:r>
                      </m:sup>
                    </m:sSup>
                  </m:oMath>
                </a14:m>
                <a:r>
                  <a:rPr lang="pt-BR" dirty="0"/>
                  <a:t> médio entre as partições (</a:t>
                </a:r>
                <a:r>
                  <a:rPr lang="pt-BR" i="1" dirty="0" err="1"/>
                  <a:t>folds</a:t>
                </a:r>
                <a:r>
                  <a:rPr lang="pt-BR" dirty="0"/>
                  <a:t>);</a:t>
                </a:r>
              </a:p>
              <a:p>
                <a:r>
                  <a:rPr lang="pt-BR" dirty="0"/>
                  <a:t>Número de partições: k=10;</a:t>
                </a:r>
              </a:p>
              <a:p>
                <a:r>
                  <a:rPr lang="pt-BR" dirty="0"/>
                  <a:t>Mais de 1200 testes realizados;</a:t>
                </a:r>
              </a:p>
              <a:p>
                <a:pPr lvl="1"/>
                <a:r>
                  <a:rPr lang="pt-BR" dirty="0"/>
                  <a:t>Parâmetro fixo: Algoritmo de aprendizagem </a:t>
                </a:r>
                <a:r>
                  <a:rPr lang="pt-BR" i="1" dirty="0"/>
                  <a:t>adam</a:t>
                </a:r>
                <a:r>
                  <a:rPr lang="pt-BR" dirty="0"/>
                  <a:t>.</a:t>
                </a:r>
              </a:p>
            </p:txBody>
          </p:sp>
        </mc:Choice>
        <mc:Fallback xmlns="">
          <p:sp>
            <p:nvSpPr>
              <p:cNvPr id="8" name="Espaço Reservado para Conteúdo 2">
                <a:extLst>
                  <a:ext uri="{FF2B5EF4-FFF2-40B4-BE49-F238E27FC236}">
                    <a16:creationId xmlns:a16="http://schemas.microsoft.com/office/drawing/2014/main" id="{8084408A-A4F8-430A-A51D-2489C23839B4}"/>
                  </a:ext>
                </a:extLst>
              </p:cNvPr>
              <p:cNvSpPr txBox="1">
                <a:spLocks noRot="1" noChangeAspect="1" noMove="1" noResize="1" noEditPoints="1" noAdjustHandles="1" noChangeArrowheads="1" noChangeShapeType="1" noTextEdit="1"/>
              </p:cNvSpPr>
              <p:nvPr/>
            </p:nvSpPr>
            <p:spPr>
              <a:xfrm>
                <a:off x="7498401" y="2340152"/>
                <a:ext cx="4186297" cy="3634486"/>
              </a:xfrm>
              <a:prstGeom prst="rect">
                <a:avLst/>
              </a:prstGeom>
              <a:blipFill>
                <a:blip r:embed="rId3"/>
                <a:stretch>
                  <a:fillRect l="-437"/>
                </a:stretch>
              </a:blipFill>
            </p:spPr>
            <p:txBody>
              <a:bodyPr/>
              <a:lstStyle/>
              <a:p>
                <a:r>
                  <a:rPr lang="pt-BR">
                    <a:noFill/>
                  </a:rPr>
                  <a:t> </a:t>
                </a:r>
              </a:p>
            </p:txBody>
          </p:sp>
        </mc:Fallback>
      </mc:AlternateContent>
      <p:graphicFrame>
        <p:nvGraphicFramePr>
          <p:cNvPr id="5" name="Diagrama 4">
            <a:extLst>
              <a:ext uri="{FF2B5EF4-FFF2-40B4-BE49-F238E27FC236}">
                <a16:creationId xmlns:a16="http://schemas.microsoft.com/office/drawing/2014/main" id="{6C6F0A8A-A21C-44B2-9042-82F225ADD4AD}"/>
              </a:ext>
            </a:extLst>
          </p:cNvPr>
          <p:cNvGraphicFramePr/>
          <p:nvPr>
            <p:extLst>
              <p:ext uri="{D42A27DB-BD31-4B8C-83A1-F6EECF244321}">
                <p14:modId xmlns:p14="http://schemas.microsoft.com/office/powerpoint/2010/main" val="3109215311"/>
              </p:ext>
            </p:extLst>
          </p:nvPr>
        </p:nvGraphicFramePr>
        <p:xfrm>
          <a:off x="581190" y="2021748"/>
          <a:ext cx="6640945" cy="44272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CaixaDeTexto 3">
            <a:extLst>
              <a:ext uri="{FF2B5EF4-FFF2-40B4-BE49-F238E27FC236}">
                <a16:creationId xmlns:a16="http://schemas.microsoft.com/office/drawing/2014/main" id="{DCD8EE8C-6510-49EC-995D-3963271D40AA}"/>
              </a:ext>
            </a:extLst>
          </p:cNvPr>
          <p:cNvSpPr txBox="1"/>
          <p:nvPr/>
        </p:nvSpPr>
        <p:spPr>
          <a:xfrm>
            <a:off x="752148" y="6106222"/>
            <a:ext cx="2623393" cy="307777"/>
          </a:xfrm>
          <a:prstGeom prst="rect">
            <a:avLst/>
          </a:prstGeom>
          <a:noFill/>
        </p:spPr>
        <p:txBody>
          <a:bodyPr wrap="square" rtlCol="0">
            <a:spAutoFit/>
          </a:bodyPr>
          <a:lstStyle/>
          <a:p>
            <a:r>
              <a:rPr lang="pt-BR" sz="1400" dirty="0">
                <a:solidFill>
                  <a:schemeClr val="tx1">
                    <a:lumMod val="75000"/>
                    <a:lumOff val="25000"/>
                  </a:schemeClr>
                </a:solidFill>
              </a:rPr>
              <a:t>Parâmetros variados nos testes.</a:t>
            </a:r>
          </a:p>
        </p:txBody>
      </p:sp>
      <p:sp>
        <p:nvSpPr>
          <p:cNvPr id="9" name="Espaço Reservado para Rodapé 8">
            <a:extLst>
              <a:ext uri="{FF2B5EF4-FFF2-40B4-BE49-F238E27FC236}">
                <a16:creationId xmlns:a16="http://schemas.microsoft.com/office/drawing/2014/main" id="{44F8F17B-46D1-4FB1-8F68-0CBD3CF4C37A}"/>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2463449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Treino (validação cruzada)</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20</a:t>
            </a:fld>
            <a:r>
              <a:rPr lang="en-US" dirty="0"/>
              <a:t> / 29</a:t>
            </a:r>
          </a:p>
        </p:txBody>
      </p:sp>
      <p:sp>
        <p:nvSpPr>
          <p:cNvPr id="3" name="Espaço Reservado para Rodapé 2">
            <a:extLst>
              <a:ext uri="{FF2B5EF4-FFF2-40B4-BE49-F238E27FC236}">
                <a16:creationId xmlns:a16="http://schemas.microsoft.com/office/drawing/2014/main" id="{037C520E-3BFC-403D-92D8-956C3EB8ABDA}"/>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481449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Treino (validação cruzada)</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21</a:t>
            </a:fld>
            <a:r>
              <a:rPr lang="en-US" dirty="0"/>
              <a:t> / 29</a:t>
            </a:r>
          </a:p>
        </p:txBody>
      </p:sp>
      <p:sp>
        <p:nvSpPr>
          <p:cNvPr id="3" name="Espaço Reservado para Rodapé 2">
            <a:extLst>
              <a:ext uri="{FF2B5EF4-FFF2-40B4-BE49-F238E27FC236}">
                <a16:creationId xmlns:a16="http://schemas.microsoft.com/office/drawing/2014/main" id="{037C520E-3BFC-403D-92D8-956C3EB8ABDA}"/>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748601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Treino (validação cruzada)</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22</a:t>
            </a:fld>
            <a:r>
              <a:rPr lang="en-US" dirty="0"/>
              <a:t> / 29</a:t>
            </a:r>
          </a:p>
        </p:txBody>
      </p:sp>
      <p:sp>
        <p:nvSpPr>
          <p:cNvPr id="9" name="CaixaDeTexto 8">
            <a:extLst>
              <a:ext uri="{FF2B5EF4-FFF2-40B4-BE49-F238E27FC236}">
                <a16:creationId xmlns:a16="http://schemas.microsoft.com/office/drawing/2014/main" id="{3EBCD7B8-264E-45E0-8A81-44828FFE796E}"/>
              </a:ext>
            </a:extLst>
          </p:cNvPr>
          <p:cNvSpPr txBox="1"/>
          <p:nvPr/>
        </p:nvSpPr>
        <p:spPr>
          <a:xfrm>
            <a:off x="3299624" y="5948588"/>
            <a:ext cx="5650412" cy="307777"/>
          </a:xfrm>
          <a:prstGeom prst="rect">
            <a:avLst/>
          </a:prstGeom>
          <a:noFill/>
        </p:spPr>
        <p:txBody>
          <a:bodyPr wrap="square" rtlCol="0">
            <a:spAutoFit/>
          </a:bodyPr>
          <a:lstStyle/>
          <a:p>
            <a:r>
              <a:rPr lang="pt-BR" sz="1400" dirty="0">
                <a:solidFill>
                  <a:schemeClr val="tx1">
                    <a:lumMod val="75000"/>
                    <a:lumOff val="25000"/>
                  </a:schemeClr>
                </a:solidFill>
              </a:rPr>
              <a:t>Considerando os parâmetros do </a:t>
            </a:r>
            <a:r>
              <a:rPr lang="pt-BR" sz="1400" dirty="0" err="1">
                <a:solidFill>
                  <a:schemeClr val="tx1">
                    <a:lumMod val="75000"/>
                    <a:lumOff val="25000"/>
                  </a:schemeClr>
                </a:solidFill>
              </a:rPr>
              <a:t>GridSearchCV</a:t>
            </a:r>
            <a:r>
              <a:rPr lang="pt-BR" sz="1400" dirty="0">
                <a:solidFill>
                  <a:schemeClr val="tx1">
                    <a:lumMod val="75000"/>
                    <a:lumOff val="25000"/>
                  </a:schemeClr>
                </a:solidFill>
              </a:rPr>
              <a:t> que melhor performaram.</a:t>
            </a:r>
          </a:p>
        </p:txBody>
      </p:sp>
      <p:sp>
        <p:nvSpPr>
          <p:cNvPr id="3" name="Espaço Reservado para Rodapé 2">
            <a:extLst>
              <a:ext uri="{FF2B5EF4-FFF2-40B4-BE49-F238E27FC236}">
                <a16:creationId xmlns:a16="http://schemas.microsoft.com/office/drawing/2014/main" id="{A09B8587-ACDE-46F9-B8ED-7FDA49036DE3}"/>
              </a:ext>
            </a:extLst>
          </p:cNvPr>
          <p:cNvSpPr>
            <a:spLocks noGrp="1"/>
          </p:cNvSpPr>
          <p:nvPr>
            <p:ph type="ftr" sz="quarter" idx="11"/>
          </p:nvPr>
        </p:nvSpPr>
        <p:spPr/>
        <p:txBody>
          <a:bodyPr/>
          <a:lstStyle/>
          <a:p>
            <a:r>
              <a:rPr lang="en-US" dirty="0"/>
              <a:t>METODOLOGIA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2288013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Resultados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3" y="2340864"/>
                <a:ext cx="5514808" cy="3634486"/>
              </a:xfrm>
            </p:spPr>
            <p:txBody>
              <a:bodyPr>
                <a:normAutofit/>
              </a:bodyPr>
              <a:lstStyle/>
              <a:p>
                <a:pPr marL="0" indent="0">
                  <a:buNone/>
                </a:pPr>
                <a:r>
                  <a:rPr lang="pt-BR" b="1" dirty="0"/>
                  <a:t>Base desconhecida (25%):</a:t>
                </a:r>
              </a:p>
              <a:p>
                <a:r>
                  <a:rPr lang="pt-BR" dirty="0"/>
                  <a:t>Retreino com 43 neurônios ocultos;</a:t>
                </a:r>
              </a:p>
              <a:p>
                <a:r>
                  <a:rPr lang="pt-BR" dirty="0"/>
                  <a:t>Número iterações máxima: 1500.</a:t>
                </a:r>
              </a:p>
              <a:p>
                <a:r>
                  <a:rPr lang="pt-BR" dirty="0"/>
                  <a:t>Recursos de entrada que melhor performaram (7);</a:t>
                </a:r>
              </a:p>
              <a:p>
                <a:r>
                  <a:rPr lang="pt-BR" dirty="0"/>
                  <a:t>Método de aprendizagem </a:t>
                </a:r>
                <a:r>
                  <a:rPr lang="pt-BR" i="1" dirty="0"/>
                  <a:t>adam</a:t>
                </a:r>
                <a:r>
                  <a:rPr lang="pt-BR" dirty="0"/>
                  <a:t>;</a:t>
                </a:r>
              </a:p>
              <a:p>
                <a14:m>
                  <m:oMath xmlns:m="http://schemas.openxmlformats.org/officeDocument/2006/math">
                    <m:sSup>
                      <m:sSupPr>
                        <m:ctrlPr>
                          <a:rPr lang="pt-BR" b="1" i="1">
                            <a:latin typeface="Cambria Math" panose="02040503050406030204" pitchFamily="18" charset="0"/>
                          </a:rPr>
                        </m:ctrlPr>
                      </m:sSupPr>
                      <m:e>
                        <m:r>
                          <a:rPr lang="pt-BR" b="1" i="1">
                            <a:latin typeface="Cambria Math" panose="02040503050406030204" pitchFamily="18" charset="0"/>
                          </a:rPr>
                          <m:t>𝑹</m:t>
                        </m:r>
                      </m:e>
                      <m:sup>
                        <m:r>
                          <a:rPr lang="pt-BR" b="1" i="1">
                            <a:latin typeface="Cambria Math" panose="02040503050406030204" pitchFamily="18" charset="0"/>
                          </a:rPr>
                          <m:t>𝟐</m:t>
                        </m:r>
                      </m:sup>
                    </m:sSup>
                  </m:oMath>
                </a14:m>
                <a:r>
                  <a:rPr lang="pt-BR" b="1" dirty="0"/>
                  <a:t> = 0,86773;</a:t>
                </a:r>
              </a:p>
              <a:p>
                <a:r>
                  <a:rPr lang="pt-BR" b="1" dirty="0"/>
                  <a:t>Correlação de 0,93177.</a:t>
                </a:r>
              </a:p>
            </p:txBody>
          </p:sp>
        </mc:Choice>
        <mc:Fallback xmlns="">
          <p:sp>
            <p:nvSpPr>
              <p:cNvPr id="3" name="Espaço Reservado para Conteúdo 2">
                <a:extLst>
                  <a:ext uri="{FF2B5EF4-FFF2-40B4-BE49-F238E27FC236}">
                    <a16:creationId xmlns:a16="http://schemas.microsoft.com/office/drawing/2014/main" id="{E1647ED6-C6B8-46F3-976C-6B7EECBA62C5}"/>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663"/>
                </a:stretch>
              </a:blipFill>
            </p:spPr>
            <p:txBody>
              <a:bodyPr/>
              <a:lstStyle/>
              <a:p>
                <a:r>
                  <a:rPr lang="pt-BR">
                    <a:noFill/>
                  </a:rPr>
                  <a:t> </a:t>
                </a:r>
              </a:p>
            </p:txBody>
          </p:sp>
        </mc:Fallback>
      </mc:AlternateContent>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23</a:t>
            </a:fld>
            <a:r>
              <a:rPr lang="en-US" dirty="0"/>
              <a:t> / 29</a:t>
            </a:r>
          </a:p>
        </p:txBody>
      </p:sp>
      <p:sp>
        <p:nvSpPr>
          <p:cNvPr id="9" name="Espaço Reservado para Conteúdo 2">
            <a:extLst>
              <a:ext uri="{FF2B5EF4-FFF2-40B4-BE49-F238E27FC236}">
                <a16:creationId xmlns:a16="http://schemas.microsoft.com/office/drawing/2014/main" id="{FB932209-ADAA-44F6-98CE-1060678326B5}"/>
              </a:ext>
            </a:extLst>
          </p:cNvPr>
          <p:cNvSpPr txBox="1">
            <a:spLocks/>
          </p:cNvSpPr>
          <p:nvPr/>
        </p:nvSpPr>
        <p:spPr>
          <a:xfrm>
            <a:off x="6096000" y="2340864"/>
            <a:ext cx="5514808" cy="3634486"/>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1800" dirty="0">
              <a:effectLst/>
              <a:latin typeface="Cambria Math" panose="02040503050406030204" pitchFamily="18" charset="0"/>
            </a:endParaRPr>
          </a:p>
        </p:txBody>
      </p:sp>
      <p:sp>
        <p:nvSpPr>
          <p:cNvPr id="4" name="Espaço Reservado para Rodapé 3">
            <a:extLst>
              <a:ext uri="{FF2B5EF4-FFF2-40B4-BE49-F238E27FC236}">
                <a16:creationId xmlns:a16="http://schemas.microsoft.com/office/drawing/2014/main" id="{661593A4-68C0-4C98-B055-935391194015}"/>
              </a:ext>
            </a:extLst>
          </p:cNvPr>
          <p:cNvSpPr>
            <a:spLocks noGrp="1"/>
          </p:cNvSpPr>
          <p:nvPr>
            <p:ph type="ftr" sz="quarter" idx="11"/>
          </p:nvPr>
        </p:nvSpPr>
        <p:spPr/>
        <p:txBody>
          <a:bodyPr/>
          <a:lstStyle/>
          <a:p>
            <a:r>
              <a:rPr lang="en-US" dirty="0"/>
              <a:t>RESULTADOS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506651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Resultados</a:t>
            </a:r>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24</a:t>
            </a:fld>
            <a:r>
              <a:rPr lang="en-US" dirty="0"/>
              <a:t> / 29</a:t>
            </a:r>
          </a:p>
        </p:txBody>
      </p:sp>
      <p:sp>
        <p:nvSpPr>
          <p:cNvPr id="3" name="Espaço Reservado para Rodapé 2">
            <a:extLst>
              <a:ext uri="{FF2B5EF4-FFF2-40B4-BE49-F238E27FC236}">
                <a16:creationId xmlns:a16="http://schemas.microsoft.com/office/drawing/2014/main" id="{1A6F0E69-BFB6-4362-979A-A093014313F2}"/>
              </a:ext>
            </a:extLst>
          </p:cNvPr>
          <p:cNvSpPr>
            <a:spLocks noGrp="1"/>
          </p:cNvSpPr>
          <p:nvPr>
            <p:ph type="ftr" sz="quarter" idx="11"/>
          </p:nvPr>
        </p:nvSpPr>
        <p:spPr/>
        <p:txBody>
          <a:bodyPr/>
          <a:lstStyle/>
          <a:p>
            <a:r>
              <a:rPr lang="en-US" dirty="0"/>
              <a:t>RESULTADOS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3521615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Conclusões</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p:txBody>
          <a:bodyPr>
            <a:normAutofit/>
          </a:bodyPr>
          <a:lstStyle/>
          <a:p>
            <a:endParaRPr lang="pt-BR" dirty="0"/>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25</a:t>
            </a:fld>
            <a:r>
              <a:rPr lang="en-US" dirty="0"/>
              <a:t> / 29</a:t>
            </a:r>
          </a:p>
        </p:txBody>
      </p:sp>
      <p:sp>
        <p:nvSpPr>
          <p:cNvPr id="4" name="Espaço Reservado para Rodapé 3">
            <a:extLst>
              <a:ext uri="{FF2B5EF4-FFF2-40B4-BE49-F238E27FC236}">
                <a16:creationId xmlns:a16="http://schemas.microsoft.com/office/drawing/2014/main" id="{E66DE0F3-E3AA-49D8-89BE-7B6659EF1551}"/>
              </a:ext>
            </a:extLst>
          </p:cNvPr>
          <p:cNvSpPr>
            <a:spLocks noGrp="1"/>
          </p:cNvSpPr>
          <p:nvPr>
            <p:ph type="ftr" sz="quarter" idx="11"/>
          </p:nvPr>
        </p:nvSpPr>
        <p:spPr/>
        <p:txBody>
          <a:bodyPr/>
          <a:lstStyle/>
          <a:p>
            <a:r>
              <a:rPr lang="en-US" dirty="0"/>
              <a:t>CONCLUSÕES – </a:t>
            </a:r>
            <a:r>
              <a:rPr lang="en-US" dirty="0" err="1"/>
              <a:t>trabalho</a:t>
            </a:r>
            <a:r>
              <a:rPr lang="en-US" dirty="0"/>
              <a:t> de </a:t>
            </a:r>
            <a:r>
              <a:rPr lang="en-US" dirty="0" err="1"/>
              <a:t>conclusão</a:t>
            </a:r>
            <a:r>
              <a:rPr lang="en-US" dirty="0"/>
              <a:t> de </a:t>
            </a:r>
            <a:r>
              <a:rPr lang="en-US" dirty="0" err="1"/>
              <a:t>curso</a:t>
            </a:r>
            <a:r>
              <a:rPr lang="en-US" dirty="0"/>
              <a:t> – Evandro </a:t>
            </a:r>
            <a:r>
              <a:rPr lang="en-US" dirty="0" err="1"/>
              <a:t>coelho</a:t>
            </a:r>
            <a:endParaRPr lang="en-US" dirty="0"/>
          </a:p>
        </p:txBody>
      </p:sp>
    </p:spTree>
    <p:extLst>
      <p:ext uri="{BB962C8B-B14F-4D97-AF65-F5344CB8AC3E}">
        <p14:creationId xmlns:p14="http://schemas.microsoft.com/office/powerpoint/2010/main" val="992450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304B40-6619-4716-9EBB-9A3A816B52F8}"/>
              </a:ext>
            </a:extLst>
          </p:cNvPr>
          <p:cNvSpPr>
            <a:spLocks noGrp="1"/>
          </p:cNvSpPr>
          <p:nvPr>
            <p:ph type="title"/>
          </p:nvPr>
        </p:nvSpPr>
        <p:spPr/>
        <p:txBody>
          <a:bodyPr/>
          <a:lstStyle/>
          <a:p>
            <a:r>
              <a:rPr lang="pt-BR" dirty="0"/>
              <a:t>Obrigado!</a:t>
            </a:r>
          </a:p>
        </p:txBody>
      </p:sp>
      <p:sp>
        <p:nvSpPr>
          <p:cNvPr id="3" name="Espaço Reservado para Conteúdo 2">
            <a:extLst>
              <a:ext uri="{FF2B5EF4-FFF2-40B4-BE49-F238E27FC236}">
                <a16:creationId xmlns:a16="http://schemas.microsoft.com/office/drawing/2014/main" id="{8093754E-D7A2-4D94-84FD-F7ADB980EB2A}"/>
              </a:ext>
            </a:extLst>
          </p:cNvPr>
          <p:cNvSpPr>
            <a:spLocks noGrp="1"/>
          </p:cNvSpPr>
          <p:nvPr>
            <p:ph idx="1"/>
          </p:nvPr>
        </p:nvSpPr>
        <p:spPr/>
        <p:txBody>
          <a:bodyPr>
            <a:normAutofit/>
          </a:bodyPr>
          <a:lstStyle/>
          <a:p>
            <a:pPr marL="0" indent="0" algn="ctr">
              <a:buNone/>
            </a:pPr>
            <a:r>
              <a:rPr lang="pt-BR" sz="2400" b="1" dirty="0"/>
              <a:t>Evandro Ribeiro Gomes Coelho</a:t>
            </a:r>
          </a:p>
          <a:p>
            <a:pPr marL="0" indent="0">
              <a:buNone/>
            </a:pPr>
            <a:endParaRPr lang="pt-BR" sz="2400" dirty="0"/>
          </a:p>
          <a:p>
            <a:pPr marL="0" indent="0">
              <a:buNone/>
            </a:pPr>
            <a:r>
              <a:rPr lang="pt-BR" sz="2400" dirty="0"/>
              <a:t>Contato: </a:t>
            </a:r>
          </a:p>
          <a:p>
            <a:r>
              <a:rPr lang="pt-BR" sz="2000" dirty="0"/>
              <a:t>https://</a:t>
            </a:r>
            <a:r>
              <a:rPr lang="pt-BR" sz="2000" dirty="0" err="1"/>
              <a:t>www.linkedin.com</a:t>
            </a:r>
            <a:r>
              <a:rPr lang="pt-BR" sz="2000" dirty="0"/>
              <a:t>/in/</a:t>
            </a:r>
            <a:r>
              <a:rPr lang="pt-BR" sz="2000" dirty="0" err="1"/>
              <a:t>evandrorcoelho</a:t>
            </a:r>
            <a:r>
              <a:rPr lang="pt-BR" sz="2000" dirty="0"/>
              <a:t>/</a:t>
            </a:r>
            <a:r>
              <a:rPr lang="pt-BR" sz="2000" dirty="0" err="1"/>
              <a:t>pt</a:t>
            </a:r>
            <a:r>
              <a:rPr lang="pt-BR" sz="2000" dirty="0"/>
              <a:t>/</a:t>
            </a:r>
          </a:p>
        </p:txBody>
      </p:sp>
      <p:sp>
        <p:nvSpPr>
          <p:cNvPr id="4" name="Espaço Reservado para Número de Slide 3">
            <a:extLst>
              <a:ext uri="{FF2B5EF4-FFF2-40B4-BE49-F238E27FC236}">
                <a16:creationId xmlns:a16="http://schemas.microsoft.com/office/drawing/2014/main" id="{8476E69A-EF8A-4BFE-9C44-6F783EE58850}"/>
              </a:ext>
            </a:extLst>
          </p:cNvPr>
          <p:cNvSpPr>
            <a:spLocks noGrp="1"/>
          </p:cNvSpPr>
          <p:nvPr>
            <p:ph type="sldNum" sz="quarter" idx="12"/>
          </p:nvPr>
        </p:nvSpPr>
        <p:spPr/>
        <p:txBody>
          <a:bodyPr/>
          <a:lstStyle/>
          <a:p>
            <a:pPr rtl="0"/>
            <a:fld id="{3A98EE3D-8CD1-4C3F-BD1C-C98C9596463C}" type="slidenum">
              <a:rPr lang="en-US" smtClean="0"/>
              <a:t>26</a:t>
            </a:fld>
            <a:r>
              <a:rPr lang="en-US" dirty="0"/>
              <a:t> / 29</a:t>
            </a:r>
          </a:p>
        </p:txBody>
      </p:sp>
    </p:spTree>
    <p:extLst>
      <p:ext uri="{BB962C8B-B14F-4D97-AF65-F5344CB8AC3E}">
        <p14:creationId xmlns:p14="http://schemas.microsoft.com/office/powerpoint/2010/main" val="1609017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2C6C-3E07-4AC6-B68D-9AFE69A9DDB5}"/>
              </a:ext>
            </a:extLst>
          </p:cNvPr>
          <p:cNvSpPr>
            <a:spLocks noGrp="1"/>
          </p:cNvSpPr>
          <p:nvPr>
            <p:ph type="title"/>
          </p:nvPr>
        </p:nvSpPr>
        <p:spPr/>
        <p:txBody>
          <a:bodyPr/>
          <a:lstStyle/>
          <a:p>
            <a:r>
              <a:rPr lang="pt-BR" dirty="0"/>
              <a:t>referências</a:t>
            </a:r>
          </a:p>
        </p:txBody>
      </p:sp>
      <p:sp>
        <p:nvSpPr>
          <p:cNvPr id="3" name="Espaço Reservado para Conteúdo 2">
            <a:extLst>
              <a:ext uri="{FF2B5EF4-FFF2-40B4-BE49-F238E27FC236}">
                <a16:creationId xmlns:a16="http://schemas.microsoft.com/office/drawing/2014/main" id="{E1647ED6-C6B8-46F3-976C-6B7EECBA62C5}"/>
              </a:ext>
            </a:extLst>
          </p:cNvPr>
          <p:cNvSpPr>
            <a:spLocks noGrp="1"/>
          </p:cNvSpPr>
          <p:nvPr>
            <p:ph idx="1"/>
          </p:nvPr>
        </p:nvSpPr>
        <p:spPr>
          <a:xfrm>
            <a:off x="581193" y="1890876"/>
            <a:ext cx="5514808" cy="4533038"/>
          </a:xfrm>
        </p:spPr>
        <p:txBody>
          <a:bodyPr>
            <a:normAutofit fontScale="55000" lnSpcReduction="20000"/>
          </a:bodyPr>
          <a:lstStyle/>
          <a:p>
            <a:pPr marL="0" indent="0">
              <a:buNone/>
            </a:pPr>
            <a:r>
              <a:rPr lang="pt-BR" dirty="0"/>
              <a:t>ABESCO, Associação Brasileira das Empresas de Serviços de Conservação de Energia. </a:t>
            </a:r>
            <a:r>
              <a:rPr lang="pt-BR" b="1" dirty="0"/>
              <a:t>O que é Eficiência Energética? (EE).</a:t>
            </a:r>
            <a:r>
              <a:rPr lang="pt-BR" dirty="0"/>
              <a:t> Disponível em: &lt;https://</a:t>
            </a:r>
            <a:r>
              <a:rPr lang="pt-BR" dirty="0" err="1"/>
              <a:t>www.abesco.com.br</a:t>
            </a:r>
            <a:r>
              <a:rPr lang="pt-BR" dirty="0"/>
              <a:t>/</a:t>
            </a:r>
            <a:r>
              <a:rPr lang="pt-BR" dirty="0" err="1"/>
              <a:t>pt</a:t>
            </a:r>
            <a:r>
              <a:rPr lang="pt-BR" dirty="0"/>
              <a:t>/o-que-e-</a:t>
            </a:r>
            <a:r>
              <a:rPr lang="pt-BR" dirty="0" err="1"/>
              <a:t>eficiencia</a:t>
            </a:r>
            <a:r>
              <a:rPr lang="pt-BR" dirty="0"/>
              <a:t>-</a:t>
            </a:r>
            <a:r>
              <a:rPr lang="pt-BR" dirty="0" err="1"/>
              <a:t>energetica-ee</a:t>
            </a:r>
            <a:r>
              <a:rPr lang="pt-BR" dirty="0"/>
              <a:t>\&gt;. </a:t>
            </a:r>
            <a:r>
              <a:rPr lang="en-US" dirty="0" err="1"/>
              <a:t>Acesso</a:t>
            </a:r>
            <a:r>
              <a:rPr lang="en-US" dirty="0"/>
              <a:t> </a:t>
            </a:r>
            <a:r>
              <a:rPr lang="en-US" dirty="0" err="1"/>
              <a:t>em</a:t>
            </a:r>
            <a:r>
              <a:rPr lang="en-US" dirty="0"/>
              <a:t>: 27 </a:t>
            </a:r>
            <a:r>
              <a:rPr lang="en-US" dirty="0" err="1"/>
              <a:t>dez</a:t>
            </a:r>
            <a:r>
              <a:rPr lang="en-US" dirty="0"/>
              <a:t>. 2020.</a:t>
            </a:r>
            <a:endParaRPr lang="pt-BR" dirty="0"/>
          </a:p>
          <a:p>
            <a:pPr marL="0" indent="0">
              <a:buNone/>
            </a:pPr>
            <a:r>
              <a:rPr lang="en-US" dirty="0"/>
              <a:t>AMASYALI, K.; EL-GOHARY, N. M. A review of data-driven building energy consumption prediction studies. </a:t>
            </a:r>
            <a:r>
              <a:rPr lang="en-US" b="1" dirty="0"/>
              <a:t>Renewable and Sustainable Energy Reviews</a:t>
            </a:r>
            <a:r>
              <a:rPr lang="en-US" dirty="0"/>
              <a:t>, p. 1192–1205, 2017.</a:t>
            </a:r>
            <a:endParaRPr lang="pt-BR" dirty="0"/>
          </a:p>
          <a:p>
            <a:pPr marL="0" indent="0">
              <a:buNone/>
            </a:pPr>
            <a:r>
              <a:rPr lang="en-US" dirty="0"/>
              <a:t>BUSSAB, W. D.; MORETTIN, P. A. </a:t>
            </a:r>
            <a:r>
              <a:rPr lang="en-US" b="1" dirty="0" err="1"/>
              <a:t>Estatística</a:t>
            </a:r>
            <a:r>
              <a:rPr lang="en-US" b="1" dirty="0"/>
              <a:t> </a:t>
            </a:r>
            <a:r>
              <a:rPr lang="en-US" b="1" dirty="0" err="1"/>
              <a:t>Básica</a:t>
            </a:r>
            <a:r>
              <a:rPr lang="en-US" b="1" dirty="0"/>
              <a:t>.</a:t>
            </a:r>
            <a:r>
              <a:rPr lang="en-US" dirty="0"/>
              <a:t> </a:t>
            </a:r>
            <a:r>
              <a:rPr lang="pt-BR" dirty="0"/>
              <a:t>São Paulo: Editora Saraiva, 2010.</a:t>
            </a:r>
          </a:p>
          <a:p>
            <a:pPr marL="0" indent="0">
              <a:buNone/>
            </a:pPr>
            <a:r>
              <a:rPr lang="pt-BR" dirty="0"/>
              <a:t>COELHO, Evandro Ribeiro Gomes. </a:t>
            </a:r>
            <a:r>
              <a:rPr lang="pt-BR" b="1" dirty="0"/>
              <a:t>Previsão de Curto Prazo do Consumo Energético de Prédios Públicos em Minas Gerais.</a:t>
            </a:r>
            <a:r>
              <a:rPr lang="pt-BR" dirty="0"/>
              <a:t> Trabalho de Conclusão de Curso (Bacharelado em Engenharia Elétrica). Centro Federal de Educação Tecnológica de Minas Gerais, Belo Horizonte, 2021a.</a:t>
            </a:r>
          </a:p>
          <a:p>
            <a:pPr marL="0" indent="0">
              <a:buNone/>
            </a:pPr>
            <a:r>
              <a:rPr lang="pt-BR" dirty="0"/>
              <a:t>COELHO, Evandro Ribeiro Gomes. </a:t>
            </a:r>
            <a:r>
              <a:rPr lang="pt-BR" b="1" dirty="0"/>
              <a:t>Previsão do Consumo Energético de Prédios Públicos por Rede Neural Artificial MLP.</a:t>
            </a:r>
            <a:r>
              <a:rPr lang="pt-BR" dirty="0"/>
              <a:t> Trabalho de Conclusão de Curso (Bacharelado em Engenharia Elétrica). Centro Federal de Educação Tecnológica de Minas Gerais, Belo Horizonte, 2021b.</a:t>
            </a:r>
          </a:p>
          <a:p>
            <a:pPr marL="0" indent="0">
              <a:buNone/>
            </a:pPr>
            <a:r>
              <a:rPr lang="pt-BR" dirty="0"/>
              <a:t>D'ALBUQUERQUE, M. A.; SILVA, R. M.; GOMES, M. B. Eficiência energética em uma edificação pública: uma análise das possibilidades. </a:t>
            </a:r>
            <a:r>
              <a:rPr lang="en-US" b="1" dirty="0"/>
              <a:t>Sistemas &amp; </a:t>
            </a:r>
            <a:r>
              <a:rPr lang="en-US" b="1" dirty="0" err="1"/>
              <a:t>Gestão</a:t>
            </a:r>
            <a:r>
              <a:rPr lang="en-US" dirty="0"/>
              <a:t>, p. 462-470, 2017.</a:t>
            </a:r>
            <a:endParaRPr lang="pt-BR" dirty="0"/>
          </a:p>
          <a:p>
            <a:pPr marL="0" indent="0">
              <a:buNone/>
            </a:pPr>
            <a:r>
              <a:rPr lang="en-US" dirty="0"/>
              <a:t>DEB, C. et al. A review on time series forecasting techniques for building energy consumption. </a:t>
            </a:r>
            <a:r>
              <a:rPr lang="pt-BR" b="1" dirty="0" err="1"/>
              <a:t>Renewable</a:t>
            </a:r>
            <a:r>
              <a:rPr lang="pt-BR" b="1" dirty="0"/>
              <a:t> </a:t>
            </a:r>
            <a:r>
              <a:rPr lang="pt-BR" b="1" dirty="0" err="1"/>
              <a:t>and</a:t>
            </a:r>
            <a:r>
              <a:rPr lang="pt-BR" b="1" dirty="0"/>
              <a:t> </a:t>
            </a:r>
            <a:r>
              <a:rPr lang="pt-BR" b="1" dirty="0" err="1"/>
              <a:t>Sustainable</a:t>
            </a:r>
            <a:r>
              <a:rPr lang="pt-BR" b="1" dirty="0"/>
              <a:t> Energy Reviews</a:t>
            </a:r>
            <a:r>
              <a:rPr lang="pt-BR" dirty="0"/>
              <a:t>, p. 9-12, 2017.</a:t>
            </a:r>
          </a:p>
          <a:p>
            <a:pPr marL="0" indent="0">
              <a:buNone/>
            </a:pPr>
            <a:r>
              <a:rPr lang="en-US" dirty="0"/>
              <a:t>DORARD, Louis. </a:t>
            </a:r>
            <a:r>
              <a:rPr lang="en-US" b="1" dirty="0"/>
              <a:t>Machine Learning Canvas</a:t>
            </a:r>
            <a:r>
              <a:rPr lang="en-US" dirty="0"/>
              <a:t>. </a:t>
            </a:r>
            <a:r>
              <a:rPr lang="pt-BR" dirty="0"/>
              <a:t>OWNML, 2015. Disponível em: &lt;https://</a:t>
            </a:r>
            <a:r>
              <a:rPr lang="pt-BR" dirty="0" err="1"/>
              <a:t>www.ownml.co</a:t>
            </a:r>
            <a:r>
              <a:rPr lang="pt-BR" dirty="0"/>
              <a:t>/machine-learning-</a:t>
            </a:r>
            <a:r>
              <a:rPr lang="pt-BR" dirty="0" err="1"/>
              <a:t>canvas</a:t>
            </a:r>
            <a:r>
              <a:rPr lang="pt-BR" dirty="0"/>
              <a:t>&gt;. Acesso em: 7 jun. 2026.</a:t>
            </a:r>
          </a:p>
          <a:p>
            <a:pPr marL="0" indent="0">
              <a:buNone/>
            </a:pPr>
            <a:r>
              <a:rPr lang="pt-BR" dirty="0"/>
              <a:t>GONÇALVES, A. C. </a:t>
            </a:r>
            <a:r>
              <a:rPr lang="pt-BR" b="1" dirty="0"/>
              <a:t>Eficientização Energética em Prédios Públicos:</a:t>
            </a:r>
            <a:r>
              <a:rPr lang="pt-BR" dirty="0"/>
              <a:t> um desafio aos gestores municipais frente aos requisitos de governança e sustentabilidade. Dissertação de Mestrado. São Paulo, p. 1-25, 2012.</a:t>
            </a:r>
          </a:p>
          <a:p>
            <a:pPr marL="0" indent="0">
              <a:buNone/>
            </a:pPr>
            <a:r>
              <a:rPr lang="pt-BR" dirty="0"/>
              <a:t>HYNDMAN, J. R.; ATHANASOPOULOS, G. </a:t>
            </a:r>
            <a:r>
              <a:rPr lang="pt-BR" b="1" dirty="0" err="1"/>
              <a:t>Forecasting</a:t>
            </a:r>
            <a:r>
              <a:rPr lang="pt-BR" b="1" dirty="0"/>
              <a:t>: </a:t>
            </a:r>
            <a:r>
              <a:rPr lang="pt-BR" b="1" dirty="0" err="1"/>
              <a:t>Principles</a:t>
            </a:r>
            <a:r>
              <a:rPr lang="pt-BR" b="1" dirty="0"/>
              <a:t> </a:t>
            </a:r>
            <a:r>
              <a:rPr lang="pt-BR" b="1" dirty="0" err="1"/>
              <a:t>and</a:t>
            </a:r>
            <a:r>
              <a:rPr lang="pt-BR" b="1" dirty="0"/>
              <a:t> </a:t>
            </a:r>
            <a:r>
              <a:rPr lang="pt-BR" b="1" dirty="0" err="1"/>
              <a:t>Practice</a:t>
            </a:r>
            <a:r>
              <a:rPr lang="pt-BR" b="1" dirty="0"/>
              <a:t>.</a:t>
            </a:r>
            <a:r>
              <a:rPr lang="pt-BR" dirty="0"/>
              <a:t> </a:t>
            </a:r>
            <a:r>
              <a:rPr lang="en-US" dirty="0"/>
              <a:t>Melbourne: </a:t>
            </a:r>
            <a:r>
              <a:rPr lang="en-US" dirty="0" err="1"/>
              <a:t>OTexts</a:t>
            </a:r>
            <a:r>
              <a:rPr lang="en-US" dirty="0"/>
              <a:t>, 2018.</a:t>
            </a:r>
          </a:p>
          <a:p>
            <a:pPr marL="0" indent="0">
              <a:buNone/>
            </a:pPr>
            <a:r>
              <a:rPr lang="en-US" dirty="0"/>
              <a:t>KALEKO, D. </a:t>
            </a:r>
            <a:r>
              <a:rPr lang="en-US" b="1" dirty="0"/>
              <a:t>Feature Engineering — Handling Cyclical Features</a:t>
            </a:r>
            <a:r>
              <a:rPr lang="en-US" dirty="0"/>
              <a:t>. </a:t>
            </a:r>
            <a:r>
              <a:rPr lang="pt-BR" dirty="0"/>
              <a:t>Disponível em: &lt;https://</a:t>
            </a:r>
            <a:r>
              <a:rPr lang="pt-BR" dirty="0" err="1"/>
              <a:t>blog.davidkaleko.com</a:t>
            </a:r>
            <a:r>
              <a:rPr lang="pt-BR" dirty="0"/>
              <a:t>/feature-</a:t>
            </a:r>
            <a:r>
              <a:rPr lang="pt-BR" dirty="0" err="1"/>
              <a:t>engineering</a:t>
            </a:r>
            <a:r>
              <a:rPr lang="pt-BR" dirty="0"/>
              <a:t>-</a:t>
            </a:r>
            <a:r>
              <a:rPr lang="pt-BR" dirty="0" err="1"/>
              <a:t>cyclical-features.html</a:t>
            </a:r>
            <a:r>
              <a:rPr lang="pt-BR" dirty="0"/>
              <a:t>\&gt;. Acesso em: 13 jun. 2021.</a:t>
            </a:r>
          </a:p>
          <a:p>
            <a:pPr marL="0" indent="0">
              <a:buNone/>
            </a:pPr>
            <a:endParaRPr lang="pt-BR" dirty="0"/>
          </a:p>
        </p:txBody>
      </p:sp>
      <p:sp>
        <p:nvSpPr>
          <p:cNvPr id="6" name="Espaço Reservado para Número de Slide 5">
            <a:extLst>
              <a:ext uri="{FF2B5EF4-FFF2-40B4-BE49-F238E27FC236}">
                <a16:creationId xmlns:a16="http://schemas.microsoft.com/office/drawing/2014/main" id="{A5545136-9C6F-49EA-A1A8-596EA8B2F23E}"/>
              </a:ext>
            </a:extLst>
          </p:cNvPr>
          <p:cNvSpPr>
            <a:spLocks noGrp="1"/>
          </p:cNvSpPr>
          <p:nvPr>
            <p:ph type="sldNum" sz="quarter" idx="12"/>
          </p:nvPr>
        </p:nvSpPr>
        <p:spPr/>
        <p:txBody>
          <a:bodyPr/>
          <a:lstStyle/>
          <a:p>
            <a:pPr rtl="0"/>
            <a:fld id="{3A98EE3D-8CD1-4C3F-BD1C-C98C9596463C}" type="slidenum">
              <a:rPr lang="en-US" smtClean="0"/>
              <a:t>27</a:t>
            </a:fld>
            <a:r>
              <a:rPr lang="en-US" dirty="0"/>
              <a:t> / 29</a:t>
            </a:r>
          </a:p>
        </p:txBody>
      </p:sp>
      <p:sp>
        <p:nvSpPr>
          <p:cNvPr id="8" name="Espaço Reservado para Conteúdo 2">
            <a:extLst>
              <a:ext uri="{FF2B5EF4-FFF2-40B4-BE49-F238E27FC236}">
                <a16:creationId xmlns:a16="http://schemas.microsoft.com/office/drawing/2014/main" id="{4ABAD504-42A8-42F3-BF04-3018F4FF1012}"/>
              </a:ext>
            </a:extLst>
          </p:cNvPr>
          <p:cNvSpPr txBox="1">
            <a:spLocks/>
          </p:cNvSpPr>
          <p:nvPr/>
        </p:nvSpPr>
        <p:spPr>
          <a:xfrm>
            <a:off x="6096000" y="1890876"/>
            <a:ext cx="5514808" cy="4533038"/>
          </a:xfrm>
          <a:prstGeom prst="rect">
            <a:avLst/>
          </a:prstGeom>
        </p:spPr>
        <p:txBody>
          <a:bodyPr vert="horz" lIns="91440" tIns="45720" rIns="91440" bIns="45720" rtlCol="0" anchor="ctr">
            <a:normAutofit fontScale="55000" lnSpcReduction="2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dirty="0"/>
              <a:t>MARTINS, P.; LAUGENI, F. P. </a:t>
            </a:r>
            <a:r>
              <a:rPr lang="pt-BR" b="1" dirty="0"/>
              <a:t>Administração da Produção.</a:t>
            </a:r>
            <a:r>
              <a:rPr lang="pt-BR" dirty="0"/>
              <a:t> São Paulo: Editora Saraiva, 2005.</a:t>
            </a:r>
          </a:p>
          <a:p>
            <a:pPr marL="0" indent="0">
              <a:buNone/>
            </a:pPr>
            <a:r>
              <a:rPr lang="pt-BR" dirty="0" err="1"/>
              <a:t>McKINNEY</a:t>
            </a:r>
            <a:r>
              <a:rPr lang="pt-BR" dirty="0"/>
              <a:t>, W. </a:t>
            </a:r>
            <a:r>
              <a:rPr lang="pt-BR" b="1" dirty="0"/>
              <a:t>Python Para Análise de Dados.</a:t>
            </a:r>
            <a:r>
              <a:rPr lang="pt-BR" dirty="0"/>
              <a:t> Tratamento de dados com Pandas, </a:t>
            </a:r>
            <a:r>
              <a:rPr lang="pt-BR" dirty="0" err="1"/>
              <a:t>Numpy</a:t>
            </a:r>
            <a:r>
              <a:rPr lang="pt-BR" dirty="0"/>
              <a:t> e </a:t>
            </a:r>
            <a:r>
              <a:rPr lang="pt-BR" dirty="0" err="1"/>
              <a:t>iPython</a:t>
            </a:r>
            <a:r>
              <a:rPr lang="pt-BR" dirty="0"/>
              <a:t>. </a:t>
            </a:r>
            <a:r>
              <a:rPr lang="en-US" dirty="0"/>
              <a:t>1. ed. São Paulo: </a:t>
            </a:r>
            <a:r>
              <a:rPr lang="en-US" dirty="0" err="1"/>
              <a:t>Novatec</a:t>
            </a:r>
            <a:r>
              <a:rPr lang="en-US" dirty="0"/>
              <a:t> Editora, 2019.</a:t>
            </a:r>
          </a:p>
          <a:p>
            <a:pPr marL="0" indent="0">
              <a:buNone/>
            </a:pPr>
            <a:r>
              <a:rPr lang="en-US" dirty="0"/>
              <a:t>MÖBIUS. </a:t>
            </a:r>
            <a:r>
              <a:rPr lang="en-US" b="1" dirty="0"/>
              <a:t>Building Sites Power Consumption.</a:t>
            </a:r>
            <a:r>
              <a:rPr lang="en-US" dirty="0"/>
              <a:t> Forecast energy consumption in different time steps and granularities. </a:t>
            </a:r>
            <a:r>
              <a:rPr lang="pt-BR" dirty="0"/>
              <a:t>Disponível em: &lt;https://</a:t>
            </a:r>
            <a:r>
              <a:rPr lang="pt-BR" dirty="0" err="1"/>
              <a:t>www.kaggle.com</a:t>
            </a:r>
            <a:r>
              <a:rPr lang="pt-BR" dirty="0"/>
              <a:t>/</a:t>
            </a:r>
            <a:r>
              <a:rPr lang="pt-BR" dirty="0" err="1"/>
              <a:t>arashnic</a:t>
            </a:r>
            <a:r>
              <a:rPr lang="pt-BR" dirty="0"/>
              <a:t>/</a:t>
            </a:r>
            <a:r>
              <a:rPr lang="pt-BR" dirty="0" err="1"/>
              <a:t>building</a:t>
            </a:r>
            <a:r>
              <a:rPr lang="pt-BR" dirty="0"/>
              <a:t>-sites-</a:t>
            </a:r>
            <a:r>
              <a:rPr lang="pt-BR" dirty="0" err="1"/>
              <a:t>power</a:t>
            </a:r>
            <a:r>
              <a:rPr lang="pt-BR" dirty="0"/>
              <a:t>-</a:t>
            </a:r>
            <a:r>
              <a:rPr lang="pt-BR" dirty="0" err="1"/>
              <a:t>consumption-dataset</a:t>
            </a:r>
            <a:r>
              <a:rPr lang="pt-BR" dirty="0"/>
              <a:t>\&gt;. Acesso em: 12 jun. 2021.</a:t>
            </a:r>
          </a:p>
          <a:p>
            <a:pPr marL="0" indent="0">
              <a:buNone/>
            </a:pPr>
            <a:r>
              <a:rPr lang="en-US" dirty="0"/>
              <a:t>PEDREGOSA, F. et al. Scikit-learn: Machine Learning in Python. </a:t>
            </a:r>
            <a:r>
              <a:rPr lang="pt-BR" b="1" dirty="0"/>
              <a:t>JMLR</a:t>
            </a:r>
            <a:r>
              <a:rPr lang="pt-BR" dirty="0"/>
              <a:t>, v. 12, p. 2825-2830, 2011.</a:t>
            </a:r>
          </a:p>
          <a:p>
            <a:pPr marL="0" indent="0">
              <a:buNone/>
            </a:pPr>
            <a:r>
              <a:rPr lang="pt-BR" dirty="0"/>
              <a:t>PROCEL, Programa Nacional de Conservação de Energia Elétrica. </a:t>
            </a:r>
            <a:r>
              <a:rPr lang="pt-BR" b="1" dirty="0"/>
              <a:t>Edificações.</a:t>
            </a:r>
            <a:r>
              <a:rPr lang="pt-BR" dirty="0"/>
              <a:t> Disponível em: &lt;https://</a:t>
            </a:r>
            <a:r>
              <a:rPr lang="pt-BR" dirty="0" err="1"/>
              <a:t>www.procelinfo.com.br</a:t>
            </a:r>
            <a:r>
              <a:rPr lang="pt-BR" dirty="0"/>
              <a:t>\&gt;. </a:t>
            </a:r>
            <a:r>
              <a:rPr lang="en-US" dirty="0" err="1"/>
              <a:t>Acesso</a:t>
            </a:r>
            <a:r>
              <a:rPr lang="en-US" dirty="0"/>
              <a:t> </a:t>
            </a:r>
            <a:r>
              <a:rPr lang="en-US" dirty="0" err="1"/>
              <a:t>em</a:t>
            </a:r>
            <a:r>
              <a:rPr lang="en-US" dirty="0"/>
              <a:t>: 15 out. 2020.</a:t>
            </a:r>
            <a:endParaRPr lang="pt-BR" dirty="0"/>
          </a:p>
          <a:p>
            <a:pPr marL="0" indent="0">
              <a:buNone/>
            </a:pPr>
            <a:r>
              <a:rPr lang="en-US" dirty="0"/>
              <a:t>RALLAPALLI, S. R.; GHOSH, S. Forecasting monthly peak demand of electricity in India — a critique. </a:t>
            </a:r>
            <a:r>
              <a:rPr lang="en-US" b="1" dirty="0"/>
              <a:t>Energy Policy</a:t>
            </a:r>
            <a:r>
              <a:rPr lang="en-US" dirty="0"/>
              <a:t>, p. 516–520, 2012.</a:t>
            </a:r>
            <a:endParaRPr lang="pt-BR" dirty="0"/>
          </a:p>
          <a:p>
            <a:pPr marL="0" indent="0">
              <a:buNone/>
            </a:pPr>
            <a:r>
              <a:rPr lang="en-US" dirty="0"/>
              <a:t>SILVA, I. N. et al. </a:t>
            </a:r>
            <a:r>
              <a:rPr lang="en-US" b="1" dirty="0"/>
              <a:t>Artificial Neural Networks — A Practical Course.</a:t>
            </a:r>
            <a:r>
              <a:rPr lang="en-US" dirty="0"/>
              <a:t> 1. ed. São Carlos: Springer, 2017.</a:t>
            </a:r>
            <a:endParaRPr lang="pt-BR" dirty="0"/>
          </a:p>
          <a:p>
            <a:pPr marL="0" indent="0">
              <a:buNone/>
            </a:pPr>
            <a:r>
              <a:rPr lang="en-US" dirty="0"/>
              <a:t>TABRIZCHI, H.; JAVIDI, M. M.; AMIRZADEH, V. Estimates of residential building energy consumption using. </a:t>
            </a:r>
            <a:r>
              <a:rPr lang="en-US" b="1" dirty="0"/>
              <a:t>Evolving Systems</a:t>
            </a:r>
            <a:r>
              <a:rPr lang="en-US" dirty="0"/>
              <a:t>, 2019.</a:t>
            </a:r>
            <a:endParaRPr lang="pt-BR" dirty="0"/>
          </a:p>
          <a:p>
            <a:pPr marL="0" indent="0">
              <a:buNone/>
            </a:pPr>
            <a:r>
              <a:rPr lang="en-US" dirty="0"/>
              <a:t>WEI, Y. et al. A review of data-driven approaches for prediction and classification of building energy consumption. </a:t>
            </a:r>
            <a:r>
              <a:rPr lang="en-US" b="1" dirty="0"/>
              <a:t>Renewable and Sustainable Energy Reviews</a:t>
            </a:r>
            <a:r>
              <a:rPr lang="en-US" dirty="0"/>
              <a:t>, p. 1-21, 2017.</a:t>
            </a:r>
            <a:endParaRPr lang="pt-BR" dirty="0"/>
          </a:p>
          <a:p>
            <a:pPr marL="0" indent="0">
              <a:buNone/>
            </a:pPr>
            <a:r>
              <a:rPr lang="en-US" dirty="0"/>
              <a:t>ZHAO, H.; MAGOULÈS, F. A review on the prediction of building energy consumption. </a:t>
            </a:r>
            <a:r>
              <a:rPr lang="en-US" b="1" dirty="0"/>
              <a:t>Renewable and Sustainable Energy Reviews</a:t>
            </a:r>
            <a:r>
              <a:rPr lang="en-US" dirty="0"/>
              <a:t>, p. 1-7, 2012.</a:t>
            </a:r>
            <a:endParaRPr lang="pt-BR" dirty="0"/>
          </a:p>
          <a:p>
            <a:pPr marL="0" indent="0">
              <a:buNone/>
            </a:pPr>
            <a:r>
              <a:rPr lang="en-US" dirty="0"/>
              <a:t>ZMEUREANU, J.; RUNGE, R. Forecasting energy use in buildings using artificial neural networks: a review. </a:t>
            </a:r>
            <a:r>
              <a:rPr lang="pt-BR" b="1" dirty="0" err="1"/>
              <a:t>Energies</a:t>
            </a:r>
            <a:r>
              <a:rPr lang="pt-BR" dirty="0"/>
              <a:t>, p. 5-8, 2019.</a:t>
            </a:r>
          </a:p>
          <a:p>
            <a:pPr marL="0" indent="0">
              <a:buNone/>
            </a:pPr>
            <a:endParaRPr lang="pt-BR" dirty="0"/>
          </a:p>
        </p:txBody>
      </p:sp>
    </p:spTree>
    <p:extLst>
      <p:ext uri="{BB962C8B-B14F-4D97-AF65-F5344CB8AC3E}">
        <p14:creationId xmlns:p14="http://schemas.microsoft.com/office/powerpoint/2010/main" val="1524113754"/>
      </p:ext>
    </p:extLst>
  </p:cSld>
  <p:clrMapOvr>
    <a:masterClrMapping/>
  </p:clrMapOvr>
</p:sld>
</file>

<file path=ppt/theme/theme1.xml><?xml version="1.0" encoding="utf-8"?>
<a:theme xmlns:a="http://schemas.openxmlformats.org/drawingml/2006/main" name="DividendVTI">
  <a:themeElements>
    <a:clrScheme name="Personalizada 2">
      <a:dk1>
        <a:sysClr val="windowText" lastClr="000000"/>
      </a:dk1>
      <a:lt1>
        <a:sysClr val="window" lastClr="FFFFFF"/>
      </a:lt1>
      <a:dk2>
        <a:srgbClr val="335B74"/>
      </a:dk2>
      <a:lt2>
        <a:srgbClr val="DFE3E5"/>
      </a:lt2>
      <a:accent1>
        <a:srgbClr val="003869"/>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623_TF33552983" id="{3F923CBD-04A0-41B3-B873-EF426160762E}" vid="{54083136-2BEC-4495-B8B7-3CA1817B37D9}"/>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{CAAA3F97-2726-4D10-97BE-18A208DDEC45}tf33552983_win32</Template>
  <TotalTime>1691</TotalTime>
  <Words>1889</Words>
  <Application>Microsoft Macintosh PowerPoint</Application>
  <PresentationFormat>Widescreen</PresentationFormat>
  <Paragraphs>192</Paragraphs>
  <Slides>27</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27</vt:i4>
      </vt:variant>
    </vt:vector>
  </HeadingPairs>
  <TitlesOfParts>
    <vt:vector size="34" baseType="lpstr">
      <vt:lpstr>Calibri</vt:lpstr>
      <vt:lpstr>Cambria Math</vt:lpstr>
      <vt:lpstr>Franklin Gothic Book</vt:lpstr>
      <vt:lpstr>Franklin Gothic Demi</vt:lpstr>
      <vt:lpstr>Times New Roman</vt:lpstr>
      <vt:lpstr>Wingdings 2</vt:lpstr>
      <vt:lpstr>DividendVTI</vt:lpstr>
      <vt:lpstr>Apresentação do PowerPoint</vt:lpstr>
      <vt:lpstr>SUMÁRIO</vt:lpstr>
      <vt:lpstr>Introdução</vt:lpstr>
      <vt:lpstr>OBJETIVOS</vt:lpstr>
      <vt:lpstr>Problema proposto: Consumo energético</vt:lpstr>
      <vt:lpstr>Previsão de dados</vt:lpstr>
      <vt:lpstr>Redes neurais artificiais</vt:lpstr>
      <vt:lpstr>Redes Neurais Artificiais</vt:lpstr>
      <vt:lpstr>previsão</vt:lpstr>
      <vt:lpstr>METODOLOGIA</vt:lpstr>
      <vt:lpstr>Metodologia</vt:lpstr>
      <vt:lpstr>Base de dados</vt:lpstr>
      <vt:lpstr>Pré-processamento (EDIFÍCIO DE INTERESSE)</vt:lpstr>
      <vt:lpstr>Pré-processamento</vt:lpstr>
      <vt:lpstr>Pré-processamento</vt:lpstr>
      <vt:lpstr>Pré-processamento</vt:lpstr>
      <vt:lpstr>Pré-processamento</vt:lpstr>
      <vt:lpstr>Treino (validação cruzada)</vt:lpstr>
      <vt:lpstr>Treino (validação cruzada)</vt:lpstr>
      <vt:lpstr>Treino (validação cruzada)</vt:lpstr>
      <vt:lpstr>Treino (validação cruzada)</vt:lpstr>
      <vt:lpstr>Treino (validação cruzada)</vt:lpstr>
      <vt:lpstr>Resultados</vt:lpstr>
      <vt:lpstr>Resultados</vt:lpstr>
      <vt:lpstr>Conclusões</vt:lpstr>
      <vt:lpstr>Obrigado!</vt:lpstr>
      <vt:lpstr>referências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Evandro Coelho</dc:creator>
  <cp:lastModifiedBy>Evandro Ribeiro Gomes Coelho</cp:lastModifiedBy>
  <cp:revision>61</cp:revision>
  <dcterms:created xsi:type="dcterms:W3CDTF">2021-08-01T18:17:52Z</dcterms:created>
  <dcterms:modified xsi:type="dcterms:W3CDTF">2026-06-07T17:18:36Z</dcterms:modified>
</cp:coreProperties>
</file>